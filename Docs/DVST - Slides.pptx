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1"/>
  </p:notesMasterIdLst>
  <p:sldIdLst>
    <p:sldId id="256" r:id="rId2"/>
    <p:sldId id="289" r:id="rId3"/>
    <p:sldId id="288" r:id="rId4"/>
    <p:sldId id="257" r:id="rId5"/>
    <p:sldId id="259" r:id="rId6"/>
    <p:sldId id="260" r:id="rId7"/>
    <p:sldId id="261" r:id="rId8"/>
    <p:sldId id="268" r:id="rId9"/>
    <p:sldId id="263" r:id="rId10"/>
    <p:sldId id="264" r:id="rId11"/>
    <p:sldId id="265" r:id="rId12"/>
    <p:sldId id="269" r:id="rId13"/>
    <p:sldId id="270" r:id="rId14"/>
    <p:sldId id="271" r:id="rId15"/>
    <p:sldId id="272" r:id="rId16"/>
    <p:sldId id="273" r:id="rId17"/>
    <p:sldId id="274" r:id="rId18"/>
    <p:sldId id="287" r:id="rId19"/>
    <p:sldId id="275" r:id="rId20"/>
    <p:sldId id="276" r:id="rId21"/>
    <p:sldId id="277" r:id="rId22"/>
    <p:sldId id="278" r:id="rId23"/>
    <p:sldId id="279" r:id="rId24"/>
    <p:sldId id="281" r:id="rId25"/>
    <p:sldId id="282" r:id="rId26"/>
    <p:sldId id="283" r:id="rId27"/>
    <p:sldId id="284" r:id="rId28"/>
    <p:sldId id="266" r:id="rId29"/>
    <p:sldId id="258" r:id="rId30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717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50000"/>
  </p:normalViewPr>
  <p:slideViewPr>
    <p:cSldViewPr snapToGrid="0" snapToObjects="1">
      <p:cViewPr varScale="1">
        <p:scale>
          <a:sx n="82" d="100"/>
          <a:sy n="82" d="100"/>
        </p:scale>
        <p:origin x="30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14822F-DA9C-410D-A8C9-6F6B85B86A3F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8FF55A-1D54-4D77-BD3E-28520891D1C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9489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85744-B5C9-4B9B-9EE4-65CB23B2785B}" type="slidenum">
              <a:rPr lang="es-CO" smtClean="0"/>
              <a:t>19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89427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5437E-594B-C6DB-6BB5-5615A6226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A41646B-F6A9-867A-275E-3F8D375DC8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3E18640-A8C9-F196-E2C7-B663F4586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70A40D-9357-1A5B-6A46-D925052C0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85744-B5C9-4B9B-9EE4-65CB23B2785B}" type="slidenum">
              <a:rPr lang="es-CO" smtClean="0"/>
              <a:t>20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99796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8E58E-CCAE-35B3-72D2-B053C22AC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1EEACB2-351A-75D3-2ED9-78EFBFE282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DAA31B9-6C20-16F6-2C63-6731BCD4C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94ADFE0-D219-E795-57E8-213945928A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85744-B5C9-4B9B-9EE4-65CB23B2785B}" type="slidenum">
              <a:rPr lang="es-CO" smtClean="0"/>
              <a:t>21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3105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0112A-6522-C74B-F480-3AA3B879E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DA0D76C-9EC3-5A67-F760-1DE7115EAC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7B2003A-1FB1-5678-26BA-C128677DB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F565129-AE64-EDC7-1F14-BED4C158D6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85744-B5C9-4B9B-9EE4-65CB23B2785B}" type="slidenum">
              <a:rPr lang="es-CO" smtClean="0"/>
              <a:t>22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00162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4A026-C66B-B66B-B770-B3D391811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C3EFA9B-8B7F-7FC6-EC3C-2785641557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D65320C-3B6B-A44D-BF2D-DD0FBDF01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C0D35C-5E6C-CFC8-1598-F19D4BD84E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85744-B5C9-4B9B-9EE4-65CB23B2785B}" type="slidenum">
              <a:rPr lang="es-CO" smtClean="0"/>
              <a:t>23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09906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85744-B5C9-4B9B-9EE4-65CB23B2785B}" type="slidenum">
              <a:rPr lang="es-CO" smtClean="0"/>
              <a:t>24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89427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64129-C575-8829-995F-6A3454EC3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7016716-8AB2-7C52-E5B5-D2EBD2E89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1ADC1C8-6E9F-7636-E1CB-3FFAAC65D4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D39650-C2B5-F7DD-B304-7A528D7FDE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85744-B5C9-4B9B-9EE4-65CB23B2785B}" type="slidenum">
              <a:rPr lang="es-CO" smtClean="0"/>
              <a:t>25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125962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45398-3EA9-7502-6796-C6B73849E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E9E3DE4-D57A-A9F6-F65B-AB87C9AA6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4B02B12-FBF8-60D4-FC44-383FCF32D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2D6556-B0CF-0365-06A3-B0CF261F3D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85744-B5C9-4B9B-9EE4-65CB23B2785B}" type="slidenum">
              <a:rPr lang="es-CO" smtClean="0"/>
              <a:t>26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2708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0D984-1974-4814-9B43-E39EA0BF2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A430548-31F8-DF3E-52B3-AE7D73F3F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594B6E8-C9D1-C4DD-0C60-B9473E910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807886-DFEA-7F36-BBE4-E5D023ED2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85744-B5C9-4B9B-9EE4-65CB23B2785B}" type="slidenum">
              <a:rPr lang="es-CO" smtClean="0"/>
              <a:t>27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5204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46643" y="3260035"/>
            <a:ext cx="6145696" cy="1443728"/>
          </a:xfrm>
        </p:spPr>
        <p:txBody>
          <a:bodyPr anchor="b">
            <a:normAutofit/>
          </a:bodyPr>
          <a:lstStyle>
            <a:lvl1pPr algn="ctr">
              <a:defRPr lang="es-ES" sz="4000" b="1" kern="1200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  <a:ea typeface="+mn-ea"/>
                <a:cs typeface="+mn-cs"/>
              </a:defRPr>
            </a:lvl1pPr>
          </a:lstStyle>
          <a:p>
            <a:pPr algn="r"/>
            <a:r>
              <a:rPr lang="es-CO" sz="4000" b="1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Inserte texto </a:t>
            </a:r>
            <a:r>
              <a:rPr lang="es-CO" sz="4000" b="1" dirty="0" err="1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Myriad</a:t>
            </a:r>
            <a:r>
              <a:rPr lang="es-CO" sz="4000" b="1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 Pro </a:t>
            </a:r>
            <a:br>
              <a:rPr lang="es-CO" sz="4000" b="1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</a:br>
            <a:r>
              <a:rPr lang="es-CO" sz="4000" b="1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(</a:t>
            </a:r>
            <a:r>
              <a:rPr lang="es-CO" sz="4000" b="1" dirty="0" err="1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Semibold</a:t>
            </a:r>
            <a:r>
              <a:rPr lang="es-CO" sz="4000" b="1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 40 pt)</a:t>
            </a:r>
          </a:p>
        </p:txBody>
      </p:sp>
    </p:spTree>
    <p:extLst>
      <p:ext uri="{BB962C8B-B14F-4D97-AF65-F5344CB8AC3E}">
        <p14:creationId xmlns:p14="http://schemas.microsoft.com/office/powerpoint/2010/main" val="250518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s-CO" sz="2000" b="1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Inserte texto </a:t>
            </a:r>
            <a:r>
              <a:rPr lang="es-CO" sz="2000" b="1" dirty="0" err="1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Myriad</a:t>
            </a:r>
            <a:r>
              <a:rPr lang="es-CO" sz="2000" b="1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 Pro (</a:t>
            </a:r>
            <a:r>
              <a:rPr lang="es-CO" sz="2000" b="1" dirty="0" err="1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Semibold</a:t>
            </a:r>
            <a:r>
              <a:rPr lang="es-CO" sz="2000" b="1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 20 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4412281-1AA8-CE4A-A554-8B9E186C39A7}" type="datetimeFigureOut">
              <a:rPr lang="es-ES_tradnl" smtClean="0"/>
              <a:t>02/10/2025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3B02DB-5781-F943-94F9-873A9A97355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04263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s-CO" sz="2000" b="1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Inserte texto </a:t>
            </a:r>
            <a:r>
              <a:rPr lang="es-CO" sz="2000" b="1" dirty="0" err="1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Myriad</a:t>
            </a:r>
            <a:r>
              <a:rPr lang="es-CO" sz="2000" b="1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 Pro (</a:t>
            </a:r>
            <a:r>
              <a:rPr lang="es-CO" sz="2000" b="1" dirty="0" err="1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Semibold</a:t>
            </a:r>
            <a:r>
              <a:rPr lang="es-CO" sz="2000" b="1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 20 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4412281-1AA8-CE4A-A554-8B9E186C39A7}" type="datetimeFigureOut">
              <a:rPr lang="es-ES_tradnl" smtClean="0"/>
              <a:t>02/10/2025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3B02DB-5781-F943-94F9-873A9A97355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18302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18249" y="668336"/>
            <a:ext cx="8039820" cy="591121"/>
          </a:xfrm>
        </p:spPr>
        <p:txBody>
          <a:bodyPr/>
          <a:lstStyle/>
          <a:p>
            <a:r>
              <a:rPr lang="es-CO" sz="2000" b="1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Inserte texto </a:t>
            </a:r>
            <a:r>
              <a:rPr lang="es-CO" sz="2000" b="1" dirty="0" err="1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Myriad</a:t>
            </a:r>
            <a:r>
              <a:rPr lang="es-CO" sz="2000" b="1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 Pro (</a:t>
            </a:r>
            <a:r>
              <a:rPr lang="es-CO" sz="2000" b="1" dirty="0" err="1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Semibold</a:t>
            </a:r>
            <a:r>
              <a:rPr lang="es-CO" sz="2000" b="1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 20 pt)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862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s-CO" sz="2000" b="1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Inserte texto </a:t>
            </a:r>
            <a:r>
              <a:rPr lang="es-CO" sz="2000" b="1" dirty="0" err="1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Myriad</a:t>
            </a:r>
            <a:r>
              <a:rPr lang="es-CO" sz="2000" b="1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 Pro (</a:t>
            </a:r>
            <a:r>
              <a:rPr lang="es-CO" sz="2000" b="1" dirty="0" err="1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Semibold</a:t>
            </a:r>
            <a:r>
              <a:rPr lang="es-CO" sz="2000" b="1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 20 pt)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167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459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006710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905118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s-CO" sz="2000" b="1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Inserte texto </a:t>
            </a:r>
            <a:r>
              <a:rPr lang="es-CO" sz="2000" b="1" dirty="0" err="1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Myriad</a:t>
            </a:r>
            <a:r>
              <a:rPr lang="es-CO" sz="2000" b="1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 Pro (</a:t>
            </a:r>
            <a:r>
              <a:rPr lang="es-CO" sz="2000" b="1" dirty="0" err="1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Semibold</a:t>
            </a:r>
            <a:r>
              <a:rPr lang="es-CO" sz="2000" b="1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 20 pt)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00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CO" sz="2000" b="1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Inserte texto </a:t>
            </a:r>
            <a:r>
              <a:rPr lang="es-CO" sz="2000" b="1" dirty="0" err="1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Myriad</a:t>
            </a:r>
            <a:r>
              <a:rPr lang="es-CO" sz="2000" b="1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 Pro (</a:t>
            </a:r>
            <a:r>
              <a:rPr lang="es-CO" sz="2000" b="1" dirty="0" err="1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Semibold</a:t>
            </a:r>
            <a:r>
              <a:rPr lang="es-CO" sz="2000" b="1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 20 pt)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3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306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10748" y="633561"/>
            <a:ext cx="6569765" cy="5267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O" sz="2000" b="1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Inserte texto </a:t>
            </a:r>
            <a:r>
              <a:rPr lang="es-CO" sz="2000" b="1" dirty="0" err="1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Myriad</a:t>
            </a:r>
            <a:r>
              <a:rPr lang="es-CO" sz="2000" b="1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 Pro (</a:t>
            </a:r>
            <a:r>
              <a:rPr lang="es-CO" sz="2000" b="1" dirty="0" err="1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Semibold</a:t>
            </a:r>
            <a:r>
              <a:rPr lang="es-CO" sz="2000" b="1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</a:rPr>
              <a:t> 20 pt)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085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1" kern="1200" dirty="0">
          <a:solidFill>
            <a:schemeClr val="bg2">
              <a:lumMod val="50000"/>
            </a:schemeClr>
          </a:solidFill>
          <a:latin typeface="Myriad Pro Semibold" panose="020B0503030403020204" pitchFamily="34" charset="0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yriad Pro Semibold" panose="020B0503030403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yriad Pro Semibold" panose="020B0503030403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yriad Pro Semibold" panose="020B0503030403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yriad Pro Semibold" panose="020B0503030403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yriad Pro Semibold" panose="020B0503030403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9" Type="http://schemas.openxmlformats.org/officeDocument/2006/relationships/image" Target="../media/image38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7" Type="http://schemas.openxmlformats.org/officeDocument/2006/relationships/image" Target="../media/image46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svg"/><Relationship Id="rId4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47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jpeg"/><Relationship Id="rId4" Type="http://schemas.openxmlformats.org/officeDocument/2006/relationships/image" Target="../media/image70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3D659-2666-450E-B08E-5B6940A40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8846" y="2663948"/>
            <a:ext cx="6738985" cy="1995732"/>
          </a:xfrm>
        </p:spPr>
        <p:txBody>
          <a:bodyPr>
            <a:noAutofit/>
          </a:bodyPr>
          <a:lstStyle/>
          <a:p>
            <a:r>
              <a:rPr lang="en-GB" noProof="0" dirty="0"/>
              <a:t>Fundamentals of Data Visualization and Storytelling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464DE96C-6338-572B-9510-9A7423C924F1}"/>
              </a:ext>
            </a:extLst>
          </p:cNvPr>
          <p:cNvSpPr txBox="1">
            <a:spLocks/>
          </p:cNvSpPr>
          <p:nvPr/>
        </p:nvSpPr>
        <p:spPr>
          <a:xfrm>
            <a:off x="5425490" y="4593471"/>
            <a:ext cx="6145696" cy="125915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000" b="1" kern="1200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  <a:ea typeface="+mn-ea"/>
                <a:cs typeface="+mn-cs"/>
              </a:defRPr>
            </a:lvl1pPr>
          </a:lstStyle>
          <a:p>
            <a:r>
              <a:rPr lang="en-GB" sz="2400" b="0" noProof="0" dirty="0"/>
              <a:t>Carlos Mantilla Duarte</a:t>
            </a:r>
          </a:p>
          <a:p>
            <a:r>
              <a:rPr lang="en-GB" sz="2400" b="0" noProof="0" dirty="0"/>
              <a:t>October 3 - 2025</a:t>
            </a:r>
          </a:p>
          <a:p>
            <a:r>
              <a:rPr lang="en-GB" sz="2400" b="0" noProof="0" dirty="0"/>
              <a:t>The Hague</a:t>
            </a:r>
          </a:p>
        </p:txBody>
      </p:sp>
    </p:spTree>
    <p:extLst>
      <p:ext uri="{BB962C8B-B14F-4D97-AF65-F5344CB8AC3E}">
        <p14:creationId xmlns:p14="http://schemas.microsoft.com/office/powerpoint/2010/main" val="632380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8C32523C-7984-D058-80AE-A72A9BAF9480}"/>
              </a:ext>
            </a:extLst>
          </p:cNvPr>
          <p:cNvGrpSpPr/>
          <p:nvPr/>
        </p:nvGrpSpPr>
        <p:grpSpPr>
          <a:xfrm>
            <a:off x="1404255" y="2825262"/>
            <a:ext cx="9383491" cy="3212124"/>
            <a:chOff x="1178170" y="2274277"/>
            <a:chExt cx="9383491" cy="3212124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9FBBCB5E-68CF-702B-B1C8-2FA0C7C9628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foregroundMark x1="76500" y1="43333" x2="85667" y2="35833"/>
                          <a14:foregroundMark x1="85667" y1="35833" x2="87333" y2="33167"/>
                          <a14:foregroundMark x1="87333" y1="32833" x2="76167" y2="37667"/>
                          <a14:foregroundMark x1="76167" y1="37667" x2="42333" y2="36500"/>
                          <a14:foregroundMark x1="42333" y1="36500" x2="26500" y2="48333"/>
                          <a14:foregroundMark x1="26500" y1="48333" x2="34667" y2="59667"/>
                          <a14:foregroundMark x1="34667" y1="59667" x2="65833" y2="62000"/>
                          <a14:foregroundMark x1="65833" y1="62000" x2="69667" y2="55500"/>
                          <a14:foregroundMark x1="74167" y1="53000" x2="75000" y2="51333"/>
                          <a14:foregroundMark x1="70833" y1="32500" x2="68000" y2="33333"/>
                          <a14:foregroundMark x1="65833" y1="35333" x2="56833" y2="32167"/>
                          <a14:foregroundMark x1="56833" y1="32167" x2="48000" y2="31667"/>
                          <a14:foregroundMark x1="42500" y1="33167" x2="34500" y2="37500"/>
                          <a14:foregroundMark x1="34500" y1="37500" x2="34500" y2="37500"/>
                          <a14:foregroundMark x1="27167" y1="44333" x2="30833" y2="40833"/>
                          <a14:foregroundMark x1="19167" y1="44000" x2="16000" y2="52833"/>
                          <a14:foregroundMark x1="16000" y1="52833" x2="18667" y2="53500"/>
                          <a14:foregroundMark x1="23833" y1="44333" x2="12833" y2="44833"/>
                          <a14:foregroundMark x1="12833" y1="44833" x2="12167" y2="53833"/>
                          <a14:foregroundMark x1="30167" y1="55667" x2="36333" y2="64500"/>
                          <a14:foregroundMark x1="36333" y1="64500" x2="49000" y2="63333"/>
                          <a14:foregroundMark x1="49000" y1="63333" x2="59000" y2="63333"/>
                          <a14:foregroundMark x1="59000" y1="63333" x2="68500" y2="68667"/>
                          <a14:foregroundMark x1="68500" y1="68667" x2="71500" y2="63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488" b="26308"/>
            <a:stretch>
              <a:fillRect/>
            </a:stretch>
          </p:blipFill>
          <p:spPr bwMode="auto">
            <a:xfrm>
              <a:off x="1178170" y="2274277"/>
              <a:ext cx="5715000" cy="27549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C76BE249-EACE-E977-E44B-984627914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7333" t="12155" r="6923" b="12769"/>
            <a:stretch>
              <a:fillRect/>
            </a:stretch>
          </p:blipFill>
          <p:spPr>
            <a:xfrm>
              <a:off x="6893170" y="2274277"/>
              <a:ext cx="3668491" cy="3212124"/>
            </a:xfrm>
            <a:prstGeom prst="rect">
              <a:avLst/>
            </a:prstGeom>
          </p:spPr>
        </p:pic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E71AE945-DBEF-2B21-081A-E22DA1907899}"/>
              </a:ext>
            </a:extLst>
          </p:cNvPr>
          <p:cNvSpPr txBox="1"/>
          <p:nvPr/>
        </p:nvSpPr>
        <p:spPr>
          <a:xfrm>
            <a:off x="3371543" y="2240487"/>
            <a:ext cx="1780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>
                <a:solidFill>
                  <a:srgbClr val="767171"/>
                </a:solidFill>
                <a:latin typeface="Myriad Pro Semibold" panose="020B0503030403020204"/>
              </a:rPr>
              <a:t>THEORY</a:t>
            </a:r>
            <a:endParaRPr lang="es-CO" b="1" dirty="0">
              <a:solidFill>
                <a:srgbClr val="767171"/>
              </a:solidFill>
              <a:latin typeface="Myriad Pro Semibold" panose="020B0503030403020204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FAEC889-B847-A1CB-E31D-C5316BF21782}"/>
              </a:ext>
            </a:extLst>
          </p:cNvPr>
          <p:cNvSpPr txBox="1"/>
          <p:nvPr/>
        </p:nvSpPr>
        <p:spPr>
          <a:xfrm>
            <a:off x="7909689" y="2240486"/>
            <a:ext cx="20876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>
                <a:solidFill>
                  <a:srgbClr val="767171"/>
                </a:solidFill>
                <a:latin typeface="Myriad Pro Semibold" panose="020B0503030403020204"/>
              </a:rPr>
              <a:t>PRACTICE</a:t>
            </a:r>
            <a:endParaRPr lang="es-CO" b="1" dirty="0">
              <a:solidFill>
                <a:srgbClr val="767171"/>
              </a:solidFill>
              <a:latin typeface="Myriad Pro Semibold" panose="020B0503030403020204"/>
            </a:endParaRPr>
          </a:p>
        </p:txBody>
      </p:sp>
      <p:sp>
        <p:nvSpPr>
          <p:cNvPr id="7" name="Título 5">
            <a:extLst>
              <a:ext uri="{FF2B5EF4-FFF2-40B4-BE49-F238E27FC236}">
                <a16:creationId xmlns:a16="http://schemas.microsoft.com/office/drawing/2014/main" id="{0034E6C9-116A-A4DC-4662-FFBF1B2359DD}"/>
              </a:ext>
            </a:extLst>
          </p:cNvPr>
          <p:cNvSpPr txBox="1">
            <a:spLocks/>
          </p:cNvSpPr>
          <p:nvPr/>
        </p:nvSpPr>
        <p:spPr>
          <a:xfrm>
            <a:off x="1510748" y="633560"/>
            <a:ext cx="7902883" cy="995947"/>
          </a:xfrm>
          <a:prstGeom prst="rect">
            <a:avLst/>
          </a:prstGeom>
        </p:spPr>
        <p:txBody>
          <a:bodyPr>
            <a:normAutofit fontScale="97500"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kern="1200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  <a:ea typeface="+mn-ea"/>
                <a:cs typeface="+mn-cs"/>
              </a:defRPr>
            </a:lvl1pPr>
          </a:lstStyle>
          <a:p>
            <a:r>
              <a:rPr lang="en-GB" sz="3200" dirty="0"/>
              <a:t>This course is divided into two blocks:</a:t>
            </a:r>
            <a:endParaRPr lang="en-GB" sz="3200" b="0" dirty="0"/>
          </a:p>
        </p:txBody>
      </p:sp>
    </p:spTree>
    <p:extLst>
      <p:ext uri="{BB962C8B-B14F-4D97-AF65-F5344CB8AC3E}">
        <p14:creationId xmlns:p14="http://schemas.microsoft.com/office/powerpoint/2010/main" val="2630839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3F141-C754-125B-BC8E-A50C02222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87C81A88-C0C5-2626-3D45-F097CC00DDDA}"/>
              </a:ext>
            </a:extLst>
          </p:cNvPr>
          <p:cNvSpPr txBox="1">
            <a:spLocks/>
          </p:cNvSpPr>
          <p:nvPr/>
        </p:nvSpPr>
        <p:spPr>
          <a:xfrm>
            <a:off x="2435916" y="2212029"/>
            <a:ext cx="7320169" cy="2433943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kern="1200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  <a:ea typeface="+mn-ea"/>
                <a:cs typeface="+mn-cs"/>
              </a:defRPr>
            </a:lvl1pPr>
          </a:lstStyle>
          <a:p>
            <a:pPr algn="ctr"/>
            <a:r>
              <a:rPr lang="en-GB" sz="8800" dirty="0"/>
              <a:t>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525280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FDEA2FEB-103C-4F1E-9689-2835C107D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748" y="633561"/>
            <a:ext cx="6569765" cy="679424"/>
          </a:xfrm>
        </p:spPr>
        <p:txBody>
          <a:bodyPr>
            <a:normAutofit fontScale="90000"/>
          </a:bodyPr>
          <a:lstStyle/>
          <a:p>
            <a:r>
              <a:rPr lang="en-GB" sz="3200" noProof="0" dirty="0"/>
              <a:t>What is Data Visualization?</a:t>
            </a:r>
            <a:br>
              <a:rPr lang="en-GB" sz="3200" noProof="0" dirty="0"/>
            </a:br>
            <a:r>
              <a:rPr lang="en-GB" sz="2200" b="0" noProof="0" dirty="0"/>
              <a:t>More than graphics: a way of thinking with images</a:t>
            </a:r>
            <a:endParaRPr lang="en-GB" sz="3200" b="0" noProof="0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49207D86-6A0E-4B09-B524-B90305356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11501" cy="3422554"/>
          </a:xfrm>
        </p:spPr>
        <p:txBody>
          <a:bodyPr>
            <a:normAutofit/>
          </a:bodyPr>
          <a:lstStyle/>
          <a:p>
            <a:r>
              <a:rPr lang="en-GB" sz="2400" noProof="0" dirty="0"/>
              <a:t>Is the visual representation of quantitative and </a:t>
            </a:r>
            <a:r>
              <a:rPr lang="en-GB" sz="2400" noProof="0" dirty="0" err="1"/>
              <a:t>cualitative</a:t>
            </a:r>
            <a:r>
              <a:rPr lang="en-GB" sz="2400" noProof="0" dirty="0"/>
              <a:t> information.</a:t>
            </a:r>
          </a:p>
          <a:p>
            <a:r>
              <a:rPr lang="en-GB" sz="2400" noProof="0" dirty="0"/>
              <a:t>It is used to explore, analyse and communicate data effectively.</a:t>
            </a:r>
          </a:p>
          <a:p>
            <a:r>
              <a:rPr lang="en-GB" sz="2400" noProof="0" dirty="0"/>
              <a:t>Connect the reader with patterns that are not visible in tables.</a:t>
            </a:r>
          </a:p>
          <a:p>
            <a:r>
              <a:rPr lang="en-GB" sz="2400" noProof="0" dirty="0"/>
              <a:t>Enriches evidence-based decision-making.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5CD81926-54D5-D0B4-8D1A-2E15E73E6DE4}"/>
              </a:ext>
            </a:extLst>
          </p:cNvPr>
          <p:cNvGrpSpPr/>
          <p:nvPr/>
        </p:nvGrpSpPr>
        <p:grpSpPr>
          <a:xfrm>
            <a:off x="8608713" y="1193897"/>
            <a:ext cx="1440000" cy="4054282"/>
            <a:chOff x="8280239" y="1193897"/>
            <a:chExt cx="1440000" cy="4054282"/>
          </a:xfrm>
        </p:grpSpPr>
        <p:pic>
          <p:nvPicPr>
            <p:cNvPr id="3" name="Gráfico 2" descr="Tendencia al alza con relleno sólido">
              <a:extLst>
                <a:ext uri="{FF2B5EF4-FFF2-40B4-BE49-F238E27FC236}">
                  <a16:creationId xmlns:a16="http://schemas.microsoft.com/office/drawing/2014/main" id="{BD8DDF10-5B8A-CD74-EC48-1C27E7063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80239" y="2368179"/>
              <a:ext cx="1440000" cy="1440000"/>
            </a:xfrm>
            <a:prstGeom prst="rect">
              <a:avLst/>
            </a:prstGeom>
          </p:spPr>
        </p:pic>
        <p:pic>
          <p:nvPicPr>
            <p:cNvPr id="5" name="Gráfico 4" descr="Lupa con relleno sólido">
              <a:extLst>
                <a:ext uri="{FF2B5EF4-FFF2-40B4-BE49-F238E27FC236}">
                  <a16:creationId xmlns:a16="http://schemas.microsoft.com/office/drawing/2014/main" id="{CBBCF6EA-E069-2A62-6A4C-B1130F611D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80239" y="3808179"/>
              <a:ext cx="1440000" cy="1440000"/>
            </a:xfrm>
            <a:prstGeom prst="rect">
              <a:avLst/>
            </a:prstGeom>
          </p:spPr>
        </p:pic>
        <p:pic>
          <p:nvPicPr>
            <p:cNvPr id="9" name="Gráfico 8" descr="Gráfico de barras con relleno sólido">
              <a:extLst>
                <a:ext uri="{FF2B5EF4-FFF2-40B4-BE49-F238E27FC236}">
                  <a16:creationId xmlns:a16="http://schemas.microsoft.com/office/drawing/2014/main" id="{2B084877-167E-FCF2-B910-85E55AC06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80239" y="1193897"/>
              <a:ext cx="1440000" cy="1440000"/>
            </a:xfrm>
            <a:prstGeom prst="rect">
              <a:avLst/>
            </a:prstGeom>
          </p:spPr>
        </p:pic>
      </p:grp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BD0509C-9652-C42A-8002-2D45E4BA9BAB}"/>
              </a:ext>
            </a:extLst>
          </p:cNvPr>
          <p:cNvSpPr txBox="1"/>
          <p:nvPr/>
        </p:nvSpPr>
        <p:spPr>
          <a:xfrm>
            <a:off x="4660777" y="5451804"/>
            <a:ext cx="67326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noProof="0" dirty="0">
                <a:latin typeface="Myriad Pro Semibold" panose="020B0503030403020204"/>
              </a:rPr>
              <a:t>“</a:t>
            </a:r>
            <a:r>
              <a:rPr lang="en-GB" i="1" noProof="0" dirty="0">
                <a:latin typeface="Myriad Pro Semibold" panose="020B0503030403020204"/>
              </a:rPr>
              <a:t>Data visualization is the graphical representation of quantitative information to reinforce human cognition</a:t>
            </a:r>
            <a:r>
              <a:rPr lang="en-GB" noProof="0" dirty="0">
                <a:latin typeface="Myriad Pro Semibold" panose="020B0503030403020204"/>
              </a:rPr>
              <a:t>.”</a:t>
            </a:r>
          </a:p>
          <a:p>
            <a:pPr algn="r"/>
            <a:r>
              <a:rPr lang="en-GB" noProof="0" dirty="0">
                <a:latin typeface="Myriad Pro Semibold" panose="020B0503030403020204"/>
              </a:rPr>
              <a:t>Claus Wilke (2019)</a:t>
            </a:r>
          </a:p>
        </p:txBody>
      </p:sp>
    </p:spTree>
    <p:extLst>
      <p:ext uri="{BB962C8B-B14F-4D97-AF65-F5344CB8AC3E}">
        <p14:creationId xmlns:p14="http://schemas.microsoft.com/office/powerpoint/2010/main" val="59591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>
            <a:extLst>
              <a:ext uri="{FF2B5EF4-FFF2-40B4-BE49-F238E27FC236}">
                <a16:creationId xmlns:a16="http://schemas.microsoft.com/office/drawing/2014/main" id="{FBA47E9D-A5C5-8DE9-486E-F93A9B2EA2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0043" r="7356"/>
          <a:stretch/>
        </p:blipFill>
        <p:spPr bwMode="auto">
          <a:xfrm>
            <a:off x="7530930" y="1520785"/>
            <a:ext cx="3384476" cy="390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CC2DFFE-C718-19B1-D1AC-C9287E03C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748" y="633560"/>
            <a:ext cx="8023869" cy="632531"/>
          </a:xfrm>
        </p:spPr>
        <p:txBody>
          <a:bodyPr>
            <a:normAutofit fontScale="90000"/>
          </a:bodyPr>
          <a:lstStyle/>
          <a:p>
            <a:r>
              <a:rPr lang="en-GB" sz="3200" noProof="0" dirty="0"/>
              <a:t>A visual history since the 19th century</a:t>
            </a:r>
            <a:br>
              <a:rPr lang="en-GB" sz="3200" noProof="0" dirty="0"/>
            </a:br>
            <a:r>
              <a:rPr lang="en-GB" sz="2200" b="0" noProof="0" dirty="0"/>
              <a:t>Before </a:t>
            </a:r>
            <a:r>
              <a:rPr lang="en-GB" sz="2200" b="0" i="1" noProof="0" dirty="0"/>
              <a:t>dashboards</a:t>
            </a:r>
            <a:r>
              <a:rPr lang="en-GB" sz="2200" b="0" noProof="0" dirty="0"/>
              <a:t>, there was </a:t>
            </a:r>
            <a:r>
              <a:rPr lang="en-GB" sz="2200" b="0" i="1" noProof="0" dirty="0"/>
              <a:t>storytelling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66E8A5-62FE-EE35-066D-4177258B9D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690062"/>
            <a:ext cx="6568440" cy="34778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sz="22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</a:rPr>
              <a:t>Florence Nightingale</a:t>
            </a:r>
            <a:r>
              <a:rPr kumimoji="0" lang="en-GB" sz="22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</a:rPr>
              <a:t> (1858): used coxcomb charts to communicate mortality in hospitals.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sz="22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</a:rPr>
              <a:t>Charles Minard</a:t>
            </a:r>
            <a:r>
              <a:rPr kumimoji="0" lang="en-GB" sz="22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</a:rPr>
              <a:t> (1869): visualised Napoleon's campaign in Russia (multivariate chart).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sz="22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</a:rPr>
              <a:t>William Playfair</a:t>
            </a:r>
            <a:r>
              <a:rPr kumimoji="0" lang="en-GB" sz="22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</a:rPr>
              <a:t>: pioneer of line, bar and pie plots.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sz="22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</a:rPr>
              <a:t>Edward Tufte</a:t>
            </a:r>
            <a:r>
              <a:rPr kumimoji="0" lang="en-GB" sz="22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</a:rPr>
              <a:t>: advocate of “graphic excellence” and clean design.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sz="22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</a:rPr>
              <a:t>From static paper graphs to interactive digital narratives.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BB59BCE-D713-5C05-C5F7-D7516F934393}"/>
              </a:ext>
            </a:extLst>
          </p:cNvPr>
          <p:cNvSpPr txBox="1"/>
          <p:nvPr/>
        </p:nvSpPr>
        <p:spPr>
          <a:xfrm>
            <a:off x="4660777" y="5451804"/>
            <a:ext cx="67326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noProof="0" dirty="0">
                <a:latin typeface="Myriad Pro Semibold" panose="020B0503030403020204"/>
              </a:rPr>
              <a:t>“</a:t>
            </a:r>
            <a:r>
              <a:rPr lang="en-GB" i="1" noProof="0" dirty="0">
                <a:latin typeface="Myriad Pro Semibold" panose="020B0503030403020204"/>
              </a:rPr>
              <a:t>Graphical excellence is the well-designed presentation of interesting data.</a:t>
            </a:r>
            <a:r>
              <a:rPr lang="en-GB" noProof="0" dirty="0">
                <a:latin typeface="Myriad Pro Semibold" panose="020B0503030403020204"/>
              </a:rPr>
              <a:t>”</a:t>
            </a:r>
          </a:p>
          <a:p>
            <a:pPr algn="r"/>
            <a:r>
              <a:rPr lang="en-GB" noProof="0" dirty="0">
                <a:latin typeface="Myriad Pro Semibold" panose="020B0503030403020204"/>
              </a:rPr>
              <a:t>Edward Tufte</a:t>
            </a:r>
          </a:p>
        </p:txBody>
      </p:sp>
    </p:spTree>
    <p:extLst>
      <p:ext uri="{BB962C8B-B14F-4D97-AF65-F5344CB8AC3E}">
        <p14:creationId xmlns:p14="http://schemas.microsoft.com/office/powerpoint/2010/main" val="2886614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7069E-CBA2-D62A-FFE0-804F74A78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F85F1B-1011-93EE-3C40-815A3FFBD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748" y="633561"/>
            <a:ext cx="8023869" cy="702870"/>
          </a:xfrm>
        </p:spPr>
        <p:txBody>
          <a:bodyPr>
            <a:normAutofit fontScale="90000"/>
          </a:bodyPr>
          <a:lstStyle/>
          <a:p>
            <a:r>
              <a:rPr lang="en-GB" sz="3200" noProof="0" dirty="0"/>
              <a:t>Principles for effective visualisation</a:t>
            </a:r>
            <a:br>
              <a:rPr lang="en-GB" sz="3200" noProof="0" dirty="0"/>
            </a:br>
            <a:r>
              <a:rPr lang="en-GB" sz="2200" b="0" noProof="0" dirty="0"/>
              <a:t>Clarity, purpose and empathy with the reader</a:t>
            </a:r>
            <a:endParaRPr lang="en-GB" sz="2200" b="0" i="1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B43C36-0464-B63B-5F47-4756BEB6D1CD}"/>
              </a:ext>
            </a:extLst>
          </p:cNvPr>
          <p:cNvSpPr txBox="1"/>
          <p:nvPr/>
        </p:nvSpPr>
        <p:spPr>
          <a:xfrm>
            <a:off x="4660777" y="5451804"/>
            <a:ext cx="67326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noProof="0" dirty="0">
                <a:latin typeface="Myriad Pro Semibold" panose="020B0503030403020204"/>
              </a:rPr>
              <a:t>“</a:t>
            </a:r>
            <a:r>
              <a:rPr lang="en-GB" i="1" noProof="0" dirty="0">
                <a:latin typeface="Myriad Pro Semibold" panose="020B0503030403020204"/>
              </a:rPr>
              <a:t>Not everything that can be counted counts, nor can everything that counts be counted…”</a:t>
            </a:r>
          </a:p>
          <a:p>
            <a:pPr algn="r"/>
            <a:r>
              <a:rPr lang="en-GB" noProof="0" dirty="0">
                <a:latin typeface="Myriad Pro Semibold" panose="020B0503030403020204"/>
              </a:rPr>
              <a:t>Albert Einstein (attributed)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96679E1-3A4A-1909-F2F6-F7EF2E8071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11601"/>
            <a:ext cx="645036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sz="2400" b="1" noProof="0" dirty="0"/>
              <a:t>Clarity: </a:t>
            </a:r>
            <a:r>
              <a:rPr lang="en-GB" sz="2400" noProof="0" dirty="0"/>
              <a:t>avoid visual noise, highlight what is important.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sz="2400" b="1" noProof="0" dirty="0"/>
              <a:t>Purpose: </a:t>
            </a:r>
            <a:r>
              <a:rPr lang="en-GB" sz="2400" noProof="0" dirty="0"/>
              <a:t>every visualisation should have a clear intention (to inform, compare, persuade?).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sz="2400" b="1" noProof="0" dirty="0"/>
              <a:t>Relevance:</a:t>
            </a:r>
            <a:r>
              <a:rPr lang="en-GB" sz="2400" noProof="0" dirty="0"/>
              <a:t> choose the right type of graph for the type of data and task.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sz="2400" b="1" noProof="0" dirty="0"/>
              <a:t>Empathy:</a:t>
            </a:r>
            <a:r>
              <a:rPr lang="en-GB" sz="2400" noProof="0" dirty="0"/>
              <a:t> think about who will see the graph (technical level, context, accessibility).</a:t>
            </a:r>
            <a:endParaRPr kumimoji="0" lang="en-GB" sz="24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BBA88ED7-39ED-B1F5-0640-40B9C8F4771B}"/>
              </a:ext>
            </a:extLst>
          </p:cNvPr>
          <p:cNvGrpSpPr/>
          <p:nvPr/>
        </p:nvGrpSpPr>
        <p:grpSpPr>
          <a:xfrm>
            <a:off x="7720764" y="1754024"/>
            <a:ext cx="2943058" cy="2931474"/>
            <a:chOff x="8271179" y="1531513"/>
            <a:chExt cx="2943058" cy="2931474"/>
          </a:xfrm>
          <a:solidFill>
            <a:srgbClr val="767171"/>
          </a:solidFill>
        </p:grpSpPr>
        <p:pic>
          <p:nvPicPr>
            <p:cNvPr id="10" name="Gráfico 9" descr="Corazón con chispas con relleno sólido">
              <a:extLst>
                <a:ext uri="{FF2B5EF4-FFF2-40B4-BE49-F238E27FC236}">
                  <a16:creationId xmlns:a16="http://schemas.microsoft.com/office/drawing/2014/main" id="{79CEF556-09CB-362F-D0DA-71283B4FFB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774237" y="3022987"/>
              <a:ext cx="1440000" cy="1440000"/>
            </a:xfrm>
            <a:prstGeom prst="rect">
              <a:avLst/>
            </a:prstGeom>
          </p:spPr>
        </p:pic>
        <p:pic>
          <p:nvPicPr>
            <p:cNvPr id="12" name="Gráfico 11" descr="Piezas de rompecabezas con relleno sólido">
              <a:extLst>
                <a:ext uri="{FF2B5EF4-FFF2-40B4-BE49-F238E27FC236}">
                  <a16:creationId xmlns:a16="http://schemas.microsoft.com/office/drawing/2014/main" id="{45FA8660-E5DF-F85B-4531-7F5A81503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71179" y="3022987"/>
              <a:ext cx="1440000" cy="1440000"/>
            </a:xfrm>
            <a:prstGeom prst="rect">
              <a:avLst/>
            </a:prstGeom>
          </p:spPr>
        </p:pic>
        <p:pic>
          <p:nvPicPr>
            <p:cNvPr id="14" name="Gráfico 13" descr="Objetivo con relleno sólido">
              <a:extLst>
                <a:ext uri="{FF2B5EF4-FFF2-40B4-BE49-F238E27FC236}">
                  <a16:creationId xmlns:a16="http://schemas.microsoft.com/office/drawing/2014/main" id="{D4144183-A180-C62C-086E-B3E922EF04E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774237" y="1531513"/>
              <a:ext cx="1440000" cy="1440000"/>
            </a:xfrm>
            <a:prstGeom prst="rect">
              <a:avLst/>
            </a:prstGeom>
          </p:spPr>
        </p:pic>
        <p:pic>
          <p:nvPicPr>
            <p:cNvPr id="16" name="Gráfico 15" descr="Lupa con relleno sólido">
              <a:extLst>
                <a:ext uri="{FF2B5EF4-FFF2-40B4-BE49-F238E27FC236}">
                  <a16:creationId xmlns:a16="http://schemas.microsoft.com/office/drawing/2014/main" id="{576A7DC3-1807-9134-8F94-F0B0D6AE39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271179" y="1531513"/>
              <a:ext cx="1440000" cy="14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53721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92B8E-EAC6-E546-5AD6-80F84D506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7C3A3C-0AD1-1D86-BE77-2C23A8EFC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748" y="633561"/>
            <a:ext cx="8023869" cy="720778"/>
          </a:xfrm>
        </p:spPr>
        <p:txBody>
          <a:bodyPr>
            <a:normAutofit fontScale="90000"/>
          </a:bodyPr>
          <a:lstStyle/>
          <a:p>
            <a:r>
              <a:rPr lang="en-GB" sz="3200" noProof="0" dirty="0"/>
              <a:t>How do we view graphs?</a:t>
            </a:r>
            <a:br>
              <a:rPr lang="en-GB" sz="3200" noProof="0" dirty="0"/>
            </a:br>
            <a:r>
              <a:rPr lang="en-GB" sz="2200" b="0" noProof="0" dirty="0"/>
              <a:t>Our brain does not read data, it interprets it visually</a:t>
            </a:r>
            <a:endParaRPr lang="en-GB" sz="2200" b="0" i="1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1A5441F-A1C4-861E-A889-E4EF4D09D326}"/>
              </a:ext>
            </a:extLst>
          </p:cNvPr>
          <p:cNvSpPr txBox="1"/>
          <p:nvPr/>
        </p:nvSpPr>
        <p:spPr>
          <a:xfrm>
            <a:off x="4660777" y="5451804"/>
            <a:ext cx="6732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noProof="0" dirty="0">
                <a:latin typeface="Myriad Pro Semibold" panose="020B0503030403020204"/>
              </a:rPr>
              <a:t>“</a:t>
            </a:r>
            <a:r>
              <a:rPr lang="en-GB" i="1" noProof="0" dirty="0">
                <a:latin typeface="Myriad Pro Semibold" panose="020B0503030403020204"/>
              </a:rPr>
              <a:t>The data type defines the chart type, not the other way around.</a:t>
            </a:r>
            <a:r>
              <a:rPr lang="en-GB" noProof="0" dirty="0">
                <a:latin typeface="Myriad Pro Semibold" panose="020B0503030403020204"/>
              </a:rPr>
              <a:t>”</a:t>
            </a:r>
          </a:p>
          <a:p>
            <a:pPr algn="r"/>
            <a:r>
              <a:rPr lang="en-GB" noProof="0" dirty="0">
                <a:latin typeface="Myriad Pro Semibold" panose="020B0503030403020204"/>
              </a:rPr>
              <a:t>Author unknown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4826B55-0338-9182-C12A-9ACE0D5540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68662" y="1911918"/>
            <a:ext cx="6450367" cy="3034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noProof="0" dirty="0"/>
              <a:t>Pre-attention: </a:t>
            </a:r>
            <a:r>
              <a:rPr lang="en-GB" noProof="0" dirty="0"/>
              <a:t>elements such as </a:t>
            </a:r>
            <a:r>
              <a:rPr lang="en-GB" noProof="0" dirty="0" err="1"/>
              <a:t>color</a:t>
            </a:r>
            <a:r>
              <a:rPr lang="en-GB" noProof="0" dirty="0"/>
              <a:t>, shape, size, and position guide the gaze without conscious effort.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0" dirty="0"/>
              <a:t>Gestalt principles:</a:t>
            </a:r>
          </a:p>
          <a:p>
            <a:pPr lvl="1"/>
            <a:r>
              <a:rPr lang="en-GB" i="1" noProof="0" dirty="0"/>
              <a:t>Proximity: </a:t>
            </a:r>
            <a:r>
              <a:rPr lang="en-GB" noProof="0" dirty="0"/>
              <a:t>we group together what is close.</a:t>
            </a:r>
          </a:p>
          <a:p>
            <a:pPr lvl="1"/>
            <a:r>
              <a:rPr lang="en-GB" i="1" noProof="0" dirty="0"/>
              <a:t>Similarity: </a:t>
            </a:r>
            <a:r>
              <a:rPr lang="en-GB" noProof="0" dirty="0"/>
              <a:t>we group together what looks alike.</a:t>
            </a:r>
          </a:p>
          <a:p>
            <a:pPr lvl="1"/>
            <a:r>
              <a:rPr lang="en-GB" i="1" noProof="0" dirty="0"/>
              <a:t>Connection: </a:t>
            </a:r>
            <a:r>
              <a:rPr lang="en-GB" noProof="0" dirty="0"/>
              <a:t>lines or links suggest a relationship.</a:t>
            </a:r>
          </a:p>
          <a:p>
            <a:pPr lvl="1"/>
            <a:r>
              <a:rPr lang="en-GB" i="1" noProof="0" dirty="0"/>
              <a:t>Closure: </a:t>
            </a:r>
            <a:r>
              <a:rPr lang="en-GB" noProof="0" dirty="0"/>
              <a:t>we complete shapes even if they are incomplete.</a:t>
            </a:r>
          </a:p>
          <a:p>
            <a:pPr lvl="1"/>
            <a:r>
              <a:rPr lang="en-GB" i="1" noProof="0" dirty="0"/>
              <a:t>Continuity: we follow patterns or visual directions.</a:t>
            </a:r>
            <a:endParaRPr lang="en-GB" noProof="0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28B3C267-BD2E-85CF-DE6E-21E933F98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212338"/>
              </p:ext>
            </p:extLst>
          </p:nvPr>
        </p:nvGraphicFramePr>
        <p:xfrm>
          <a:off x="1678031" y="1477269"/>
          <a:ext cx="208891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4455">
                  <a:extLst>
                    <a:ext uri="{9D8B030D-6E8A-4147-A177-3AD203B41FA5}">
                      <a16:colId xmlns:a16="http://schemas.microsoft.com/office/drawing/2014/main" val="2758689698"/>
                    </a:ext>
                  </a:extLst>
                </a:gridCol>
                <a:gridCol w="1044455">
                  <a:extLst>
                    <a:ext uri="{9D8B030D-6E8A-4147-A177-3AD203B41FA5}">
                      <a16:colId xmlns:a16="http://schemas.microsoft.com/office/drawing/2014/main" val="29359083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400" b="1" noProof="0" dirty="0">
                          <a:latin typeface="Myriad Pro Semibold" panose="020B0503030403020204"/>
                        </a:rPr>
                        <a:t>Level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noProof="0" dirty="0">
                          <a:latin typeface="Myriad Pro Semibold" panose="020B0503030403020204"/>
                        </a:rPr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235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noProof="0" dirty="0">
                          <a:latin typeface="Myriad Pro Semibold" panose="020B0503030403020204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noProof="0" dirty="0">
                          <a:latin typeface="Myriad Pro Semibold" panose="020B0503030403020204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3688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noProof="0" dirty="0">
                          <a:latin typeface="Myriad Pro Semibold" panose="020B0503030403020204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noProof="0" dirty="0">
                          <a:latin typeface="Myriad Pro Semibold" panose="020B0503030403020204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1439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noProof="0" dirty="0">
                          <a:latin typeface="Myriad Pro Semibold" panose="020B0503030403020204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noProof="0" dirty="0">
                          <a:latin typeface="Myriad Pro Semibold" panose="020B0503030403020204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6634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noProof="0" dirty="0">
                          <a:latin typeface="Myriad Pro Semibold" panose="020B0503030403020204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noProof="0" dirty="0">
                          <a:latin typeface="Myriad Pro Semibold" panose="020B0503030403020204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13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noProof="0" dirty="0">
                          <a:latin typeface="Myriad Pro Semibold" panose="020B0503030403020204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noProof="0" dirty="0">
                          <a:latin typeface="Myriad Pro Semibold" panose="020B0503030403020204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8330439"/>
                  </a:ext>
                </a:extLst>
              </a:tr>
            </a:tbl>
          </a:graphicData>
        </a:graphic>
      </p:graphicFrame>
      <p:pic>
        <p:nvPicPr>
          <p:cNvPr id="15" name="Imagen 14">
            <a:extLst>
              <a:ext uri="{FF2B5EF4-FFF2-40B4-BE49-F238E27FC236}">
                <a16:creationId xmlns:a16="http://schemas.microsoft.com/office/drawing/2014/main" id="{9D823CD3-74C1-E1B2-B2D1-51A41861DF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1519" y="3540310"/>
            <a:ext cx="4481933" cy="2689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345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50D2E-4B24-4442-8448-BA4DED869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D88178-CA3A-4E57-5BDC-BAAC4A91C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748" y="466165"/>
            <a:ext cx="8023869" cy="694170"/>
          </a:xfrm>
        </p:spPr>
        <p:txBody>
          <a:bodyPr>
            <a:normAutofit fontScale="90000"/>
          </a:bodyPr>
          <a:lstStyle/>
          <a:p>
            <a:r>
              <a:rPr lang="en-GB" sz="3200" noProof="0" dirty="0"/>
              <a:t>What type of data are we viewing?</a:t>
            </a:r>
            <a:br>
              <a:rPr lang="en-GB" sz="3200" noProof="0" dirty="0"/>
            </a:br>
            <a:r>
              <a:rPr lang="en-GB" sz="2200" b="0" noProof="0" dirty="0"/>
              <a:t>Each piece of data has its ideal way of being displayed.</a:t>
            </a:r>
            <a:endParaRPr lang="en-GB" sz="2200" b="0" i="1" noProof="0" dirty="0"/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2FD1736F-1916-F83F-73E1-B33F4839B4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920"/>
          <a:stretch>
            <a:fillRect/>
          </a:stretch>
        </p:blipFill>
        <p:spPr>
          <a:xfrm>
            <a:off x="2858472" y="1314055"/>
            <a:ext cx="6475055" cy="527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366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0BB40-FBF4-361D-61EA-5082BB6D8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19DA38-2466-B4A8-14CC-5D07937AC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748" y="385126"/>
            <a:ext cx="8023869" cy="775209"/>
          </a:xfrm>
        </p:spPr>
        <p:txBody>
          <a:bodyPr>
            <a:normAutofit fontScale="90000"/>
          </a:bodyPr>
          <a:lstStyle/>
          <a:p>
            <a:r>
              <a:rPr lang="en-GB" sz="3200" noProof="0" dirty="0"/>
              <a:t>What type plot to do?</a:t>
            </a:r>
            <a:br>
              <a:rPr lang="en-GB" sz="3200" noProof="0" dirty="0"/>
            </a:br>
            <a:r>
              <a:rPr lang="en-GB" sz="2200" b="0" noProof="0" dirty="0"/>
              <a:t>Select thinking what you need show</a:t>
            </a:r>
            <a:endParaRPr lang="en-GB" sz="2200" b="0" i="1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B804B14-55DE-0AA9-5F75-0D09BB0C10EA}"/>
              </a:ext>
            </a:extLst>
          </p:cNvPr>
          <p:cNvSpPr txBox="1"/>
          <p:nvPr/>
        </p:nvSpPr>
        <p:spPr>
          <a:xfrm>
            <a:off x="5281127" y="5826543"/>
            <a:ext cx="6355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noProof="0" dirty="0">
                <a:latin typeface="Myriad Pro Semibold" panose="020B0503030403020204"/>
              </a:rPr>
              <a:t>“The correct plot communicates more that thousand words”</a:t>
            </a:r>
          </a:p>
          <a:p>
            <a:pPr algn="r"/>
            <a:r>
              <a:rPr lang="en-GB" noProof="0" dirty="0">
                <a:latin typeface="Myriad Pro Semibold" panose="020B0503030403020204"/>
              </a:rPr>
              <a:t>— Author unknown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273077E-0F03-EB24-E986-AE98600D6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97530"/>
              </p:ext>
            </p:extLst>
          </p:nvPr>
        </p:nvGraphicFramePr>
        <p:xfrm>
          <a:off x="757266" y="1298161"/>
          <a:ext cx="10677468" cy="4528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9156">
                  <a:extLst>
                    <a:ext uri="{9D8B030D-6E8A-4147-A177-3AD203B41FA5}">
                      <a16:colId xmlns:a16="http://schemas.microsoft.com/office/drawing/2014/main" val="519440641"/>
                    </a:ext>
                  </a:extLst>
                </a:gridCol>
                <a:gridCol w="3559156">
                  <a:extLst>
                    <a:ext uri="{9D8B030D-6E8A-4147-A177-3AD203B41FA5}">
                      <a16:colId xmlns:a16="http://schemas.microsoft.com/office/drawing/2014/main" val="496540857"/>
                    </a:ext>
                  </a:extLst>
                </a:gridCol>
                <a:gridCol w="3559156">
                  <a:extLst>
                    <a:ext uri="{9D8B030D-6E8A-4147-A177-3AD203B41FA5}">
                      <a16:colId xmlns:a16="http://schemas.microsoft.com/office/drawing/2014/main" val="2529898483"/>
                    </a:ext>
                  </a:extLst>
                </a:gridCol>
              </a:tblGrid>
              <a:tr h="2264191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>
                          <a:solidFill>
                            <a:schemeClr val="tx2"/>
                          </a:solidFill>
                          <a:latin typeface="Myriad Pro Semibold" panose="020B0503030403020204"/>
                        </a:rPr>
                        <a:t>COMPARISON</a:t>
                      </a:r>
                    </a:p>
                  </a:txBody>
                  <a:tcPr>
                    <a:lnL w="9525" cap="flat" cmpd="sng" algn="ctr">
                      <a:solidFill>
                        <a:srgbClr val="76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>
                          <a:solidFill>
                            <a:schemeClr val="tx2"/>
                          </a:solidFill>
                          <a:latin typeface="Myriad Pro Semibold" panose="020B0503030403020204"/>
                        </a:rPr>
                        <a:t>TREND</a:t>
                      </a:r>
                    </a:p>
                  </a:txBody>
                  <a:tcPr>
                    <a:lnL w="9525" cap="flat" cmpd="sng" algn="ctr">
                      <a:solidFill>
                        <a:srgbClr val="76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>
                          <a:solidFill>
                            <a:schemeClr val="tx2"/>
                          </a:solidFill>
                          <a:latin typeface="Myriad Pro Semibold" panose="020B0503030403020204"/>
                        </a:rPr>
                        <a:t>DISTRIBUTION</a:t>
                      </a:r>
                    </a:p>
                  </a:txBody>
                  <a:tcPr>
                    <a:lnL w="9525" cap="flat" cmpd="sng" algn="ctr">
                      <a:solidFill>
                        <a:srgbClr val="76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967454"/>
                  </a:ext>
                </a:extLst>
              </a:tr>
              <a:tr h="2264191">
                <a:tc>
                  <a:txBody>
                    <a:bodyPr/>
                    <a:lstStyle/>
                    <a:p>
                      <a:pPr algn="ctr"/>
                      <a:r>
                        <a:rPr lang="en-GB" b="1" noProof="0" dirty="0">
                          <a:solidFill>
                            <a:schemeClr val="tx2"/>
                          </a:solidFill>
                          <a:latin typeface="Myriad Pro Semibold" panose="020B0503030403020204"/>
                        </a:rPr>
                        <a:t>RELATIONSHIP</a:t>
                      </a:r>
                    </a:p>
                  </a:txBody>
                  <a:tcPr>
                    <a:lnL w="9525" cap="flat" cmpd="sng" algn="ctr">
                      <a:solidFill>
                        <a:srgbClr val="76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noProof="0" dirty="0">
                          <a:solidFill>
                            <a:schemeClr val="tx2"/>
                          </a:solidFill>
                          <a:latin typeface="Myriad Pro Semibold" panose="020B0503030403020204"/>
                        </a:rPr>
                        <a:t>PART - WHOLE</a:t>
                      </a:r>
                    </a:p>
                  </a:txBody>
                  <a:tcPr>
                    <a:lnL w="9525" cap="flat" cmpd="sng" algn="ctr">
                      <a:solidFill>
                        <a:srgbClr val="76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b="1" noProof="0" dirty="0">
                        <a:solidFill>
                          <a:schemeClr val="tx2"/>
                        </a:solidFill>
                        <a:latin typeface="Myriad Pro Semibold" panose="020B0503030403020204"/>
                      </a:endParaRPr>
                    </a:p>
                  </a:txBody>
                  <a:tcPr>
                    <a:lnL w="9525" cap="flat" cmpd="sng" algn="ctr">
                      <a:solidFill>
                        <a:srgbClr val="76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26077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BCAE9F0A-9309-FB7F-E91C-A1367A03C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014" y="1804004"/>
            <a:ext cx="3406121" cy="1508901"/>
          </a:xfrm>
          <a:prstGeom prst="rect">
            <a:avLst/>
          </a:prstGeom>
        </p:spPr>
      </p:pic>
      <p:pic>
        <p:nvPicPr>
          <p:cNvPr id="8" name="Imagen 7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0AE3E780-64F9-004A-2FA8-18383F1C5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352" y="1804004"/>
            <a:ext cx="3406121" cy="1508901"/>
          </a:xfrm>
          <a:prstGeom prst="rect">
            <a:avLst/>
          </a:prstGeom>
        </p:spPr>
      </p:pic>
      <p:pic>
        <p:nvPicPr>
          <p:cNvPr id="10" name="Imagen 9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B7CD0CF5-27C1-4815-FA98-3FF2D8619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8690" y="1804004"/>
            <a:ext cx="3406122" cy="150890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79AC16C-536E-63C5-65A0-EB3A8FEB73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014" y="4050938"/>
            <a:ext cx="3406122" cy="150890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C9CA6E7-9525-2E7E-46C3-F0DB10535F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6353" y="4050938"/>
            <a:ext cx="3406120" cy="150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549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6AADC-0E8A-F6B0-BFAE-39EF0BAF4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C0AF58-FA44-48F5-CD14-F745CC7FD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748" y="504092"/>
            <a:ext cx="8023869" cy="734385"/>
          </a:xfrm>
        </p:spPr>
        <p:txBody>
          <a:bodyPr>
            <a:normAutofit fontScale="90000"/>
          </a:bodyPr>
          <a:lstStyle/>
          <a:p>
            <a:r>
              <a:rPr lang="en-GB" sz="3200" noProof="0" dirty="0"/>
              <a:t>Which mistakes we need to prevent?</a:t>
            </a:r>
            <a:br>
              <a:rPr lang="en-GB" sz="3200" noProof="0" dirty="0"/>
            </a:br>
            <a:r>
              <a:rPr lang="en-GB" sz="2200" b="0" noProof="0" dirty="0"/>
              <a:t>An attractive graphic is not correct ever</a:t>
            </a:r>
            <a:endParaRPr lang="en-GB" sz="2200" b="0" i="1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DF1B4BC-3DCE-2E5D-5AC8-B2848C90AC90}"/>
              </a:ext>
            </a:extLst>
          </p:cNvPr>
          <p:cNvSpPr txBox="1"/>
          <p:nvPr/>
        </p:nvSpPr>
        <p:spPr>
          <a:xfrm>
            <a:off x="2059619" y="5826543"/>
            <a:ext cx="9576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noProof="0" dirty="0">
                <a:latin typeface="Myriad Pro Semibold" panose="020B0503030403020204"/>
              </a:rPr>
              <a:t>“A poorly made graph not only confuses it can induce wrong decisions</a:t>
            </a:r>
            <a:r>
              <a:rPr lang="en-GB" i="1" noProof="0" dirty="0">
                <a:latin typeface="Myriad Pro Semibold" panose="020B0503030403020204"/>
              </a:rPr>
              <a:t>.</a:t>
            </a:r>
            <a:r>
              <a:rPr lang="en-GB" noProof="0" dirty="0">
                <a:latin typeface="Myriad Pro Semibold" panose="020B0503030403020204"/>
              </a:rPr>
              <a:t>”</a:t>
            </a:r>
          </a:p>
          <a:p>
            <a:pPr algn="r"/>
            <a:r>
              <a:rPr lang="en-GB" noProof="0" dirty="0">
                <a:latin typeface="Myriad Pro Semibold" panose="020B0503030403020204"/>
              </a:rPr>
              <a:t>— Author unknown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EA18B03-3B13-591A-4CF6-C86C9B24C488}"/>
              </a:ext>
            </a:extLst>
          </p:cNvPr>
          <p:cNvSpPr txBox="1"/>
          <p:nvPr/>
        </p:nvSpPr>
        <p:spPr>
          <a:xfrm>
            <a:off x="987641" y="1692922"/>
            <a:ext cx="534213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noProof="0" dirty="0">
                <a:latin typeface="Myriad Pro Semibold" panose="020B0503030403020204"/>
              </a:rPr>
              <a:t>Do not start the axis at cero </a:t>
            </a:r>
            <a:r>
              <a:rPr lang="en-GB" sz="2000" noProof="0" dirty="0">
                <a:latin typeface="Myriad Pro Semibold" panose="020B0503030403020204"/>
              </a:rPr>
              <a:t>(Bar plots </a:t>
            </a:r>
            <a:r>
              <a:rPr lang="en-GB" sz="2000" noProof="0" dirty="0" err="1">
                <a:latin typeface="Myriad Pro Semibold" panose="020B0503030403020204"/>
              </a:rPr>
              <a:t>especifically</a:t>
            </a:r>
            <a:r>
              <a:rPr lang="en-GB" sz="2000" noProof="0" dirty="0">
                <a:latin typeface="Myriad Pro Semibold" panose="020B0503030403020204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noProof="0" dirty="0" err="1">
                <a:latin typeface="Myriad Pro Semibold" panose="020B0503030403020204"/>
              </a:rPr>
              <a:t>Excesive</a:t>
            </a:r>
            <a:r>
              <a:rPr lang="en-GB" sz="2000" b="1" noProof="0" dirty="0">
                <a:latin typeface="Myriad Pro Semibold" panose="020B0503030403020204"/>
              </a:rPr>
              <a:t> use of </a:t>
            </a:r>
            <a:r>
              <a:rPr lang="en-GB" sz="2000" b="1" noProof="0" dirty="0" err="1">
                <a:latin typeface="Myriad Pro Semibold" panose="020B0503030403020204"/>
              </a:rPr>
              <a:t>color</a:t>
            </a:r>
            <a:r>
              <a:rPr lang="en-GB" sz="2000" b="1" noProof="0" dirty="0">
                <a:latin typeface="Myriad Pro Semibold" panose="020B0503030403020204"/>
              </a:rPr>
              <a:t>,</a:t>
            </a:r>
            <a:r>
              <a:rPr lang="en-GB" sz="2000" noProof="0" dirty="0">
                <a:latin typeface="Myriad Pro Semibold" panose="020B0503030403020204"/>
              </a:rPr>
              <a:t> distract instead of orienting.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noProof="0" dirty="0">
                <a:latin typeface="Myriad Pro Semibold" panose="020B0503030403020204"/>
              </a:rPr>
              <a:t>Not necessary 3D plots, </a:t>
            </a:r>
            <a:r>
              <a:rPr lang="en-GB" sz="2000" noProof="0" dirty="0">
                <a:latin typeface="Myriad Pro Semibold" panose="020B0503030403020204"/>
              </a:rPr>
              <a:t>distort  the proportions.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noProof="0" dirty="0">
                <a:latin typeface="Myriad Pro Semibold" panose="020B0503030403020204"/>
              </a:rPr>
              <a:t>Label saturation,</a:t>
            </a:r>
            <a:r>
              <a:rPr lang="en-GB" sz="2000" noProof="0" dirty="0">
                <a:latin typeface="Myriad Pro Semibold" panose="020B0503030403020204"/>
              </a:rPr>
              <a:t> or other elements that make it difficult to read.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noProof="0" dirty="0">
                <a:latin typeface="Myriad Pro Semibold" panose="020B0503030403020204"/>
              </a:rPr>
              <a:t>Select the wrong plot </a:t>
            </a:r>
            <a:r>
              <a:rPr lang="en-GB" sz="2000" noProof="0" dirty="0">
                <a:latin typeface="Myriad Pro Semibold" panose="020B0503030403020204"/>
              </a:rPr>
              <a:t>(e.g. use pie plot to compare many categories).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031CCF1A-B1FC-F93B-1296-15774B1B3C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48033" y="1351625"/>
            <a:ext cx="4386262" cy="19431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BC4A583-1BFC-357B-ACAC-8F08C77EC2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18097" y="3429000"/>
            <a:ext cx="4386262" cy="194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3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1B655-C666-3C43-47B3-F6F70CD91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BDF23A-B54D-6767-4AA4-4CF471D7D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748" y="515815"/>
            <a:ext cx="8023869" cy="644520"/>
          </a:xfrm>
        </p:spPr>
        <p:txBody>
          <a:bodyPr>
            <a:normAutofit fontScale="90000"/>
          </a:bodyPr>
          <a:lstStyle/>
          <a:p>
            <a:r>
              <a:rPr lang="en-GB" sz="3200" noProof="0" dirty="0"/>
              <a:t>Why we need to visualize?</a:t>
            </a:r>
            <a:br>
              <a:rPr lang="en-GB" sz="3200" noProof="0" dirty="0"/>
            </a:br>
            <a:r>
              <a:rPr lang="en-US" sz="2200" b="0" noProof="0" dirty="0"/>
              <a:t>Same averages, very different stories</a:t>
            </a:r>
            <a:endParaRPr lang="en-GB" sz="2200" b="0" i="1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C6354F2-3A22-C318-52EB-80015D38535E}"/>
              </a:ext>
            </a:extLst>
          </p:cNvPr>
          <p:cNvSpPr txBox="1"/>
          <p:nvPr/>
        </p:nvSpPr>
        <p:spPr>
          <a:xfrm>
            <a:off x="2059619" y="5826543"/>
            <a:ext cx="9576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noProof="0" dirty="0">
                <a:latin typeface="Myriad Pro Semibold" panose="020B0503030403020204"/>
              </a:rPr>
              <a:t>“</a:t>
            </a:r>
            <a:r>
              <a:rPr lang="en-US" i="1" noProof="0" dirty="0">
                <a:latin typeface="Myriad Pro Semibold" panose="020B0503030403020204"/>
              </a:rPr>
              <a:t>Visualization is the antidote to the deception of averages</a:t>
            </a:r>
            <a:r>
              <a:rPr lang="en-GB" i="1" noProof="0" dirty="0">
                <a:latin typeface="Myriad Pro Semibold" panose="020B0503030403020204"/>
              </a:rPr>
              <a:t>.</a:t>
            </a:r>
            <a:r>
              <a:rPr lang="en-GB" noProof="0" dirty="0">
                <a:latin typeface="Myriad Pro Semibold" panose="020B0503030403020204"/>
              </a:rPr>
              <a:t>”</a:t>
            </a:r>
          </a:p>
          <a:p>
            <a:pPr algn="r"/>
            <a:r>
              <a:rPr lang="en-GB" noProof="0" dirty="0">
                <a:latin typeface="Myriad Pro Semibold" panose="020B0503030403020204"/>
              </a:rPr>
              <a:t>— Author unknown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812190E-C008-707A-EB90-BA84D3F77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86" y="1221132"/>
            <a:ext cx="6330462" cy="460541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3813A7F-AC43-2962-AC3C-A731227C86EE}"/>
              </a:ext>
            </a:extLst>
          </p:cNvPr>
          <p:cNvSpPr txBox="1"/>
          <p:nvPr/>
        </p:nvSpPr>
        <p:spPr>
          <a:xfrm>
            <a:off x="8475784" y="1359631"/>
            <a:ext cx="2332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 err="1">
                <a:latin typeface="Myriad Pro Semibold" panose="020B0503030403020204"/>
              </a:rPr>
              <a:t>Anscombe's</a:t>
            </a:r>
            <a:r>
              <a:rPr lang="es-CO" b="1" dirty="0">
                <a:latin typeface="Myriad Pro Semibold" panose="020B0503030403020204"/>
              </a:rPr>
              <a:t> </a:t>
            </a:r>
            <a:r>
              <a:rPr lang="es-CO" b="1" dirty="0" err="1">
                <a:latin typeface="Myriad Pro Semibold" panose="020B0503030403020204"/>
              </a:rPr>
              <a:t>quartet</a:t>
            </a:r>
            <a:endParaRPr lang="es-CO" b="1" dirty="0">
              <a:latin typeface="Myriad Pro Semibold" panose="020B0503030403020204"/>
            </a:endParaRP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0F9A081A-5121-0606-7F18-C63AD9A7D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667168"/>
              </p:ext>
            </p:extLst>
          </p:nvPr>
        </p:nvGraphicFramePr>
        <p:xfrm>
          <a:off x="7362917" y="1872207"/>
          <a:ext cx="4343400" cy="3113585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60133524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506557189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187885831"/>
                    </a:ext>
                  </a:extLst>
                </a:gridCol>
              </a:tblGrid>
              <a:tr h="37991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1200" b="1" u="none" strike="noStrike" dirty="0" err="1">
                          <a:effectLst/>
                          <a:latin typeface="Myriad Pro Semibold" panose="020B0503030403020204"/>
                        </a:rPr>
                        <a:t>Property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Myriad Pro Semibold" panose="020B0503030403020204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1200" b="1" u="none" strike="noStrike" dirty="0" err="1">
                          <a:effectLst/>
                          <a:latin typeface="Myriad Pro Semibold" panose="020B0503030403020204"/>
                        </a:rPr>
                        <a:t>Value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Myriad Pro Semibold" panose="020B0503030403020204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1200" b="1" u="none" strike="noStrike" dirty="0" err="1">
                          <a:effectLst/>
                          <a:latin typeface="Myriad Pro Semibold" panose="020B0503030403020204"/>
                        </a:rPr>
                        <a:t>Accuracy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Myriad Pro Semibold" panose="020B0503030403020204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31965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O" sz="1200" u="none" strike="noStrike" dirty="0">
                          <a:effectLst/>
                          <a:latin typeface="Myriad Pro Semibold" panose="020B0503030403020204"/>
                        </a:rPr>
                        <a:t>Mean </a:t>
                      </a:r>
                      <a:r>
                        <a:rPr lang="es-CO" sz="1200" u="none" strike="noStrike" dirty="0" err="1">
                          <a:effectLst/>
                          <a:latin typeface="Myriad Pro Semibold" panose="020B0503030403020204"/>
                        </a:rPr>
                        <a:t>of</a:t>
                      </a:r>
                      <a:r>
                        <a:rPr lang="es-CO" sz="1200" u="none" strike="noStrike" dirty="0">
                          <a:effectLst/>
                          <a:latin typeface="Myriad Pro Semibold" panose="020B0503030403020204"/>
                        </a:rPr>
                        <a:t> x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Myriad Pro Semibold" panose="020B0503030403020204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1200" u="none" strike="noStrike">
                          <a:effectLst/>
                          <a:latin typeface="Myriad Pro Semibold" panose="020B0503030403020204"/>
                        </a:rPr>
                        <a:t>9</a:t>
                      </a:r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Myriad Pro Semibold" panose="020B0503030403020204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O" sz="1200" u="none" strike="noStrike">
                          <a:effectLst/>
                          <a:latin typeface="Myriad Pro Semibold" panose="020B0503030403020204"/>
                        </a:rPr>
                        <a:t>exact</a:t>
                      </a:r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Myriad Pro Semibold" panose="020B0503030403020204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2222298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  <a:latin typeface="Myriad Pro Semibold" panose="020B0503030403020204"/>
                        </a:rPr>
                        <a:t>Sample variance of 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yriad Pro Semibold" panose="020B0503030403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1200" u="none" strike="noStrike" dirty="0">
                          <a:effectLst/>
                          <a:latin typeface="Myriad Pro Semibold" panose="020B0503030403020204"/>
                        </a:rPr>
                        <a:t>11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Myriad Pro Semibold" panose="020B0503030403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O" sz="1200" u="none" strike="noStrike">
                          <a:effectLst/>
                          <a:latin typeface="Myriad Pro Semibold" panose="020B0503030403020204"/>
                        </a:rPr>
                        <a:t>exact</a:t>
                      </a:r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Myriad Pro Semibold" panose="020B05030304030202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2228592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O" sz="1200" u="none" strike="noStrike">
                          <a:effectLst/>
                          <a:latin typeface="Myriad Pro Semibold" panose="020B0503030403020204"/>
                        </a:rPr>
                        <a:t>Mean of y</a:t>
                      </a:r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Myriad Pro Semibold" panose="020B0503030403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1200" u="none" strike="noStrike">
                          <a:effectLst/>
                          <a:latin typeface="Myriad Pro Semibold" panose="020B0503030403020204"/>
                        </a:rPr>
                        <a:t>7.50</a:t>
                      </a:r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Myriad Pro Semibold" panose="020B0503030403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O" sz="1200" u="none" strike="noStrike">
                          <a:effectLst/>
                          <a:latin typeface="Myriad Pro Semibold" panose="020B0503030403020204"/>
                        </a:rPr>
                        <a:t>to 2 decimal places</a:t>
                      </a:r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Myriad Pro Semibold" panose="020B05030304030202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65823715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  <a:latin typeface="Myriad Pro Semibold" panose="020B0503030403020204"/>
                        </a:rPr>
                        <a:t>Sample variance of 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yriad Pro Semibold" panose="020B0503030403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1200" u="none" strike="noStrike">
                          <a:effectLst/>
                          <a:latin typeface="Myriad Pro Semibold" panose="020B0503030403020204"/>
                        </a:rPr>
                        <a:t>4.125</a:t>
                      </a:r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Myriad Pro Semibold" panose="020B0503030403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O" sz="1200" u="none" strike="noStrike">
                          <a:effectLst/>
                          <a:latin typeface="Myriad Pro Semibold" panose="020B0503030403020204"/>
                        </a:rPr>
                        <a:t>±0.003</a:t>
                      </a:r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Myriad Pro Semibold" panose="020B05030304030202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81290885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>
                          <a:effectLst/>
                          <a:latin typeface="Myriad Pro Semibold" panose="020B0503030403020204"/>
                        </a:rPr>
                        <a:t>Correlation between x and 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yriad Pro Semibold" panose="020B0503030403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1200" u="none" strike="noStrike">
                          <a:effectLst/>
                          <a:latin typeface="Myriad Pro Semibold" panose="020B0503030403020204"/>
                        </a:rPr>
                        <a:t>0.816</a:t>
                      </a:r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Myriad Pro Semibold" panose="020B0503030403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O" sz="1200" u="none" strike="noStrike">
                          <a:effectLst/>
                          <a:latin typeface="Myriad Pro Semibold" panose="020B0503030403020204"/>
                        </a:rPr>
                        <a:t>to 3 decimal places</a:t>
                      </a:r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Myriad Pro Semibold" panose="020B05030304030202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14608125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O" sz="1200" u="none" strike="noStrike">
                          <a:effectLst/>
                          <a:latin typeface="Myriad Pro Semibold" panose="020B0503030403020204"/>
                        </a:rPr>
                        <a:t>Linear regression line</a:t>
                      </a:r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Myriad Pro Semibold" panose="020B0503030403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1200" u="none" strike="noStrike">
                          <a:effectLst/>
                          <a:latin typeface="Myriad Pro Semibold" panose="020B0503030403020204"/>
                        </a:rPr>
                        <a:t>y = 3.00 + 0.500x</a:t>
                      </a:r>
                      <a:endParaRPr lang="es-CO" sz="1200" b="0" i="1" u="none" strike="noStrike">
                        <a:solidFill>
                          <a:srgbClr val="000000"/>
                        </a:solidFill>
                        <a:effectLst/>
                        <a:latin typeface="Myriad Pro Semibold" panose="020B0503030403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>
                          <a:effectLst/>
                          <a:latin typeface="Myriad Pro Semibold" panose="020B0503030403020204"/>
                        </a:rPr>
                        <a:t>to 2 and 3 decimal places, respectively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yriad Pro Semibold" panose="020B05030304030202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8467542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Myriad Pro Semibold" panose="020B0503030403020204"/>
                        </a:rPr>
                        <a:t>Coefficient of determination of the linear regression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yriad Pro Semibold" panose="020B0503030403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1200" u="none" strike="noStrike">
                          <a:effectLst/>
                          <a:latin typeface="Myriad Pro Semibold" panose="020B0503030403020204"/>
                        </a:rPr>
                        <a:t>0.67</a:t>
                      </a:r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Myriad Pro Semibold" panose="020B0503030403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O" sz="1200" u="none" strike="noStrike" dirty="0" err="1">
                          <a:effectLst/>
                          <a:latin typeface="Myriad Pro Semibold" panose="020B0503030403020204"/>
                        </a:rPr>
                        <a:t>to</a:t>
                      </a:r>
                      <a:r>
                        <a:rPr lang="es-CO" sz="1200" u="none" strike="noStrike" dirty="0">
                          <a:effectLst/>
                          <a:latin typeface="Myriad Pro Semibold" panose="020B0503030403020204"/>
                        </a:rPr>
                        <a:t> 2 decimal places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Myriad Pro Semibold" panose="020B05030304030202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11314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0387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FDEA2FEB-103C-4F1E-9689-2835C107D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748" y="281354"/>
            <a:ext cx="6569765" cy="1066037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Why do we need visualization tools?</a:t>
            </a:r>
            <a:br>
              <a:rPr lang="es-MX" sz="3200" dirty="0"/>
            </a:br>
            <a:r>
              <a:rPr lang="en-US" sz="2200" b="0" dirty="0"/>
              <a:t>It is not enough to have the data; you have to make it speak.</a:t>
            </a:r>
            <a:endParaRPr lang="es-CO" sz="3200" b="0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49207D86-6A0E-4B09-B524-B90305356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993" y="1825625"/>
            <a:ext cx="7311501" cy="3422554"/>
          </a:xfrm>
        </p:spPr>
        <p:txBody>
          <a:bodyPr>
            <a:normAutofit/>
          </a:bodyPr>
          <a:lstStyle/>
          <a:p>
            <a:r>
              <a:rPr lang="en-US" sz="2400" dirty="0"/>
              <a:t>Data alone does not tell a story.</a:t>
            </a:r>
          </a:p>
          <a:p>
            <a:r>
              <a:rPr lang="en-US" sz="2400" dirty="0"/>
              <a:t>Tools enable you to detect patterns, communicate findings, and make decisions.</a:t>
            </a:r>
          </a:p>
          <a:p>
            <a:r>
              <a:rPr lang="en-US" sz="2400" dirty="0"/>
              <a:t>They streamline analysis through automation and connection to data sources.</a:t>
            </a:r>
          </a:p>
          <a:p>
            <a:r>
              <a:rPr lang="en-US" sz="2400" dirty="0"/>
              <a:t>They facilitate the understanding of complex information for diverse audiences.</a:t>
            </a:r>
            <a:endParaRPr lang="es-CO" sz="24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BD0509C-9652-C42A-8002-2D45E4BA9BAB}"/>
              </a:ext>
            </a:extLst>
          </p:cNvPr>
          <p:cNvSpPr txBox="1"/>
          <p:nvPr/>
        </p:nvSpPr>
        <p:spPr>
          <a:xfrm>
            <a:off x="4795630" y="5796882"/>
            <a:ext cx="67326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Myriad Pro Semibold" panose="020B0503030403020204"/>
              </a:rPr>
              <a:t>“</a:t>
            </a:r>
            <a:r>
              <a:rPr lang="en-US" i="1" dirty="0">
                <a:latin typeface="Myriad Pro Semibold" panose="020B0503030403020204"/>
              </a:rPr>
              <a:t>Visualizing means translating data into decisions</a:t>
            </a:r>
            <a:r>
              <a:rPr lang="es-MX" i="1" dirty="0">
                <a:latin typeface="Myriad Pro Semibold" panose="020B0503030403020204"/>
              </a:rPr>
              <a:t>.</a:t>
            </a:r>
            <a:r>
              <a:rPr lang="en-US" dirty="0">
                <a:latin typeface="Myriad Pro Semibold" panose="020B0503030403020204"/>
              </a:rPr>
              <a:t>”</a:t>
            </a:r>
          </a:p>
          <a:p>
            <a:pPr algn="r"/>
            <a:r>
              <a:rPr lang="en-GB" dirty="0">
                <a:latin typeface="Myriad Pro Semibold" panose="020B0503030403020204"/>
              </a:rPr>
              <a:t>— Author unknown</a:t>
            </a:r>
          </a:p>
          <a:p>
            <a:pPr algn="r"/>
            <a:endParaRPr lang="en-US" dirty="0">
              <a:latin typeface="Myriad Pro Semibold" panose="020B0503030403020204"/>
            </a:endParaRP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C62800BE-E0C1-3EF0-7AB1-631EC3660266}"/>
              </a:ext>
            </a:extLst>
          </p:cNvPr>
          <p:cNvGrpSpPr/>
          <p:nvPr/>
        </p:nvGrpSpPr>
        <p:grpSpPr>
          <a:xfrm>
            <a:off x="8242840" y="1347392"/>
            <a:ext cx="2789250" cy="4163216"/>
            <a:chOff x="8065286" y="1245285"/>
            <a:chExt cx="2789250" cy="4163216"/>
          </a:xfrm>
        </p:grpSpPr>
        <p:pic>
          <p:nvPicPr>
            <p:cNvPr id="4" name="Gráfico 3" descr="Cabeza con engranajes con relleno sólido">
              <a:extLst>
                <a:ext uri="{FF2B5EF4-FFF2-40B4-BE49-F238E27FC236}">
                  <a16:creationId xmlns:a16="http://schemas.microsoft.com/office/drawing/2014/main" id="{B52CF405-DE2C-D05A-E89D-9A6C6E965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065286" y="3968501"/>
              <a:ext cx="1440000" cy="1440000"/>
            </a:xfrm>
            <a:prstGeom prst="rect">
              <a:avLst/>
            </a:prstGeom>
          </p:spPr>
        </p:pic>
        <p:pic>
          <p:nvPicPr>
            <p:cNvPr id="10" name="Gráfico 9" descr="Engranajes con relleno sólido">
              <a:extLst>
                <a:ext uri="{FF2B5EF4-FFF2-40B4-BE49-F238E27FC236}">
                  <a16:creationId xmlns:a16="http://schemas.microsoft.com/office/drawing/2014/main" id="{733915F1-45FE-5E33-D231-B0C2599CB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14536" y="1726894"/>
              <a:ext cx="1440000" cy="1440000"/>
            </a:xfrm>
            <a:prstGeom prst="rect">
              <a:avLst/>
            </a:prstGeom>
          </p:spPr>
        </p:pic>
        <p:pic>
          <p:nvPicPr>
            <p:cNvPr id="14" name="Gráfico 13" descr="Lupa con relleno sólido">
              <a:extLst>
                <a:ext uri="{FF2B5EF4-FFF2-40B4-BE49-F238E27FC236}">
                  <a16:creationId xmlns:a16="http://schemas.microsoft.com/office/drawing/2014/main" id="{6DAEFCF4-787F-C834-D490-DBDED5978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65286" y="1245285"/>
              <a:ext cx="1440000" cy="1440000"/>
            </a:xfrm>
            <a:prstGeom prst="rect">
              <a:avLst/>
            </a:prstGeom>
          </p:spPr>
        </p:pic>
        <p:pic>
          <p:nvPicPr>
            <p:cNvPr id="17" name="Gráfico 16" descr="Diagrama de dispersión con relleno sólido">
              <a:extLst>
                <a:ext uri="{FF2B5EF4-FFF2-40B4-BE49-F238E27FC236}">
                  <a16:creationId xmlns:a16="http://schemas.microsoft.com/office/drawing/2014/main" id="{0BF78A17-24CE-65BC-B6BD-B9A159C5D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414536" y="3220562"/>
              <a:ext cx="1440000" cy="14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11402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0D7F9-657A-C9C1-2601-04FC1DF3A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18952A28-F70E-B76E-8D27-0691AB324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630" y="234995"/>
            <a:ext cx="6569765" cy="1412784"/>
          </a:xfrm>
        </p:spPr>
        <p:txBody>
          <a:bodyPr>
            <a:normAutofit/>
          </a:bodyPr>
          <a:lstStyle/>
          <a:p>
            <a:r>
              <a:rPr lang="en-US" sz="3200" dirty="0"/>
              <a:t>View without programming: accessible tools</a:t>
            </a:r>
            <a:br>
              <a:rPr lang="es-MX" sz="3200" dirty="0"/>
            </a:br>
            <a:r>
              <a:rPr lang="en-US" sz="2200" b="0" dirty="0"/>
              <a:t>When speed and ease are key</a:t>
            </a:r>
            <a:endParaRPr lang="es-CO" sz="3200" b="0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E3E6CDF3-C81B-8067-0E10-75C232476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993" y="1825625"/>
            <a:ext cx="7311501" cy="3422554"/>
          </a:xfrm>
        </p:spPr>
        <p:txBody>
          <a:bodyPr>
            <a:normAutofit/>
          </a:bodyPr>
          <a:lstStyle/>
          <a:p>
            <a:r>
              <a:rPr lang="en-US" sz="2400" dirty="0"/>
              <a:t>Ideal for those without technical experience.</a:t>
            </a:r>
          </a:p>
          <a:p>
            <a:r>
              <a:rPr lang="en-US" sz="2400" dirty="0"/>
              <a:t>Allow you to quickly explore, transform, and </a:t>
            </a:r>
            <a:r>
              <a:rPr lang="en-US" sz="2400" dirty="0" err="1"/>
              <a:t>visualise</a:t>
            </a:r>
            <a:r>
              <a:rPr lang="en-US" sz="2400" dirty="0"/>
              <a:t> data.</a:t>
            </a:r>
          </a:p>
          <a:p>
            <a:r>
              <a:rPr lang="en-US" sz="2400" dirty="0"/>
              <a:t>Integration with Excel, cloud services, and other data sources.</a:t>
            </a:r>
          </a:p>
          <a:p>
            <a:r>
              <a:rPr lang="en-US" sz="2400" dirty="0"/>
              <a:t>Useful for creating executive dashboards and interactive visual reports.</a:t>
            </a:r>
            <a:endParaRPr lang="es-CO" sz="24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FB57F3E-17CD-E5A8-07D4-5712DDF2F975}"/>
              </a:ext>
            </a:extLst>
          </p:cNvPr>
          <p:cNvSpPr txBox="1"/>
          <p:nvPr/>
        </p:nvSpPr>
        <p:spPr>
          <a:xfrm>
            <a:off x="4795630" y="5422676"/>
            <a:ext cx="6732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Myriad Pro Semibold" panose="020B0503030403020204"/>
              </a:rPr>
              <a:t>“</a:t>
            </a:r>
            <a:r>
              <a:rPr lang="en-US" i="1" dirty="0">
                <a:latin typeface="Myriad Pro Semibold" panose="020B0503030403020204"/>
              </a:rPr>
              <a:t>You don't need to code to start telling stories with data</a:t>
            </a:r>
            <a:r>
              <a:rPr lang="es-MX" i="1" dirty="0">
                <a:latin typeface="Myriad Pro Semibold" panose="020B0503030403020204"/>
              </a:rPr>
              <a:t>.</a:t>
            </a:r>
            <a:r>
              <a:rPr lang="en-US" dirty="0">
                <a:latin typeface="Myriad Pro Semibold" panose="020B0503030403020204"/>
              </a:rPr>
              <a:t>”</a:t>
            </a:r>
          </a:p>
          <a:p>
            <a:pPr algn="r"/>
            <a:r>
              <a:rPr lang="en-GB" dirty="0">
                <a:latin typeface="Myriad Pro Semibold" panose="020B0503030403020204"/>
              </a:rPr>
              <a:t>— Author unknown</a:t>
            </a:r>
            <a:endParaRPr lang="en-US" dirty="0">
              <a:latin typeface="Myriad Pro Semibold" panose="020B0503030403020204"/>
            </a:endParaRPr>
          </a:p>
        </p:txBody>
      </p:sp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999F5BB7-7F17-0829-8550-A438D4203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513" y="1704512"/>
            <a:ext cx="3052874" cy="305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475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786D9-F1E8-6092-0632-1E2862C94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31AEC038-B2C9-D199-C29A-C783CF533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748" y="328246"/>
            <a:ext cx="6569765" cy="1200329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Visualization with code: total flexibility</a:t>
            </a:r>
            <a:br>
              <a:rPr lang="es-MX" sz="3200" dirty="0"/>
            </a:br>
            <a:r>
              <a:rPr lang="en-US" sz="2200" b="0" dirty="0"/>
              <a:t>Complete control over your graphics and data</a:t>
            </a:r>
            <a:endParaRPr lang="es-CO" sz="3200" b="0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D76C1AA4-EF94-411C-ADF4-A7876A864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994" y="1825625"/>
            <a:ext cx="5864440" cy="342255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They enable the creation of reproducible and highly </a:t>
            </a:r>
            <a:r>
              <a:rPr lang="en-US" sz="2000" dirty="0" err="1"/>
              <a:t>customised</a:t>
            </a:r>
            <a:r>
              <a:rPr lang="en-US" sz="2000" dirty="0"/>
              <a:t> </a:t>
            </a:r>
            <a:r>
              <a:rPr lang="en-US" sz="2000" dirty="0" err="1"/>
              <a:t>visualisations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Ideal for combining statistical analysis and </a:t>
            </a:r>
            <a:r>
              <a:rPr lang="en-US" sz="2000" dirty="0" err="1"/>
              <a:t>visualisation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Scalable: useful for complex projects, large volumes or automation.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They facilitate the documentation and traceability of the analytical process.</a:t>
            </a:r>
            <a:endParaRPr lang="es-MX" sz="20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E3C7737-60D3-50A6-EF01-B6648A095F15}"/>
              </a:ext>
            </a:extLst>
          </p:cNvPr>
          <p:cNvSpPr txBox="1"/>
          <p:nvPr/>
        </p:nvSpPr>
        <p:spPr>
          <a:xfrm>
            <a:off x="4795630" y="5507225"/>
            <a:ext cx="67326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Myriad Pro Semibold" panose="020B0503030403020204"/>
              </a:rPr>
              <a:t>“</a:t>
            </a:r>
            <a:r>
              <a:rPr lang="en-US" i="1" dirty="0">
                <a:latin typeface="Myriad Pro Semibold" panose="020B0503030403020204"/>
              </a:rPr>
              <a:t>When graphics matter as much as analysis, code is your best ally</a:t>
            </a:r>
            <a:r>
              <a:rPr lang="es-MX" i="1" dirty="0">
                <a:latin typeface="Myriad Pro Semibold" panose="020B0503030403020204"/>
              </a:rPr>
              <a:t>.</a:t>
            </a:r>
            <a:r>
              <a:rPr lang="en-US" dirty="0">
                <a:latin typeface="Myriad Pro Semibold" panose="020B0503030403020204"/>
              </a:rPr>
              <a:t>”</a:t>
            </a:r>
          </a:p>
          <a:p>
            <a:pPr algn="r"/>
            <a:r>
              <a:rPr lang="en-GB" dirty="0">
                <a:latin typeface="Myriad Pro Semibold" panose="020B0503030403020204"/>
              </a:rPr>
              <a:t>— Author unknown</a:t>
            </a:r>
          </a:p>
          <a:p>
            <a:pPr algn="r"/>
            <a:endParaRPr lang="en-US" dirty="0">
              <a:latin typeface="Myriad Pro Semibold" panose="020B0503030403020204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36799D5-AC7A-7C70-7A3C-BC43D12C2C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35805" y="1825625"/>
            <a:ext cx="4768061" cy="34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819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02C0C-5F1E-7D30-70A8-8D2C65151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C24FCBA4-0884-3CFB-362C-99E6A5744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748" y="304800"/>
            <a:ext cx="6569765" cy="146304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Which tool should you use depending on the objective?</a:t>
            </a:r>
            <a:br>
              <a:rPr lang="es-MX" sz="3200" dirty="0"/>
            </a:br>
            <a:r>
              <a:rPr lang="en-US" sz="2200" b="0" dirty="0"/>
              <a:t>It is not a question of better or worse, but rather of purpose.</a:t>
            </a:r>
            <a:endParaRPr lang="es-CO" sz="3200" b="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598FBB0-6C3A-1729-B13F-014EC8E4C52D}"/>
              </a:ext>
            </a:extLst>
          </p:cNvPr>
          <p:cNvSpPr txBox="1"/>
          <p:nvPr/>
        </p:nvSpPr>
        <p:spPr>
          <a:xfrm>
            <a:off x="4795630" y="5729963"/>
            <a:ext cx="6732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Myriad Pro Semibold" panose="020B0503030403020204"/>
              </a:rPr>
              <a:t>“</a:t>
            </a:r>
            <a:r>
              <a:rPr lang="en-US" i="1" dirty="0">
                <a:latin typeface="Myriad Pro Semibold" panose="020B0503030403020204"/>
              </a:rPr>
              <a:t>Choose the tool that fits the problem, not the other way around.</a:t>
            </a:r>
            <a:r>
              <a:rPr lang="en-US" dirty="0">
                <a:latin typeface="Myriad Pro Semibold" panose="020B0503030403020204"/>
              </a:rPr>
              <a:t>”</a:t>
            </a:r>
          </a:p>
          <a:p>
            <a:pPr algn="r"/>
            <a:r>
              <a:rPr lang="en-GB" dirty="0">
                <a:latin typeface="Myriad Pro Semibold" panose="020B0503030403020204"/>
              </a:rPr>
              <a:t>— Author unknown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18A67A0D-0FB6-22DE-309A-2887D55B6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219669"/>
              </p:ext>
            </p:extLst>
          </p:nvPr>
        </p:nvGraphicFramePr>
        <p:xfrm>
          <a:off x="838200" y="2697480"/>
          <a:ext cx="10515600" cy="14630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54855941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3616283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275495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3976197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039438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b="1" dirty="0">
                          <a:latin typeface="Myriad Pro Semibold" panose="020B0503030403020204"/>
                        </a:rPr>
                        <a:t>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 err="1">
                          <a:latin typeface="Myriad Pro Semibold" panose="020B0503030403020204"/>
                        </a:rPr>
                        <a:t>Ease</a:t>
                      </a:r>
                      <a:r>
                        <a:rPr lang="es-CO" b="1" dirty="0">
                          <a:latin typeface="Myriad Pro Semibold" panose="020B0503030403020204"/>
                        </a:rPr>
                        <a:t> </a:t>
                      </a:r>
                      <a:r>
                        <a:rPr lang="es-CO" b="1" dirty="0" err="1">
                          <a:latin typeface="Myriad Pro Semibold" panose="020B0503030403020204"/>
                        </a:rPr>
                        <a:t>of</a:t>
                      </a:r>
                      <a:r>
                        <a:rPr lang="es-CO" b="1" dirty="0">
                          <a:latin typeface="Myriad Pro Semibold" panose="020B0503030403020204"/>
                        </a:rPr>
                        <a:t>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 err="1">
                          <a:latin typeface="Myriad Pro Semibold" panose="020B0503030403020204"/>
                        </a:rPr>
                        <a:t>Flexibility</a:t>
                      </a:r>
                      <a:endParaRPr lang="es-CO" b="1" dirty="0">
                        <a:latin typeface="Myriad Pro Semibold" panose="020B05030304030202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 err="1">
                          <a:latin typeface="Myriad Pro Semibold" panose="020B0503030403020204"/>
                        </a:rPr>
                        <a:t>Interactivity</a:t>
                      </a:r>
                      <a:endParaRPr lang="es-CO" b="1" dirty="0">
                        <a:latin typeface="Myriad Pro Semibold" panose="020B05030304030202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 err="1">
                          <a:latin typeface="Myriad Pro Semibold" panose="020B0503030403020204"/>
                        </a:rPr>
                        <a:t>Reproducibility</a:t>
                      </a:r>
                      <a:endParaRPr lang="es-CO" b="1" dirty="0">
                        <a:latin typeface="Myriad Pro Semibold" panose="020B05030304030202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310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>
                          <a:latin typeface="Myriad Pro Semibold" panose="020B0503030403020204"/>
                        </a:rPr>
                        <a:t>Power BI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>
                          <a:latin typeface="Myriad Pro Semibold" panose="020B0503030403020204"/>
                        </a:rPr>
                        <a:t>⭐⭐⭐⭐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>
                          <a:latin typeface="Myriad Pro Semibold" panose="020B0503030403020204"/>
                        </a:rPr>
                        <a:t>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>
                          <a:latin typeface="Myriad Pro Semibold" panose="020B0503030403020204"/>
                        </a:rPr>
                        <a:t>⭐⭐⭐⭐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Myriad Pro Semibold" panose="020B0503030403020204"/>
                        </a:rPr>
                        <a:t>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471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>
                          <a:latin typeface="Myriad Pro Semibold" panose="020B0503030403020204"/>
                        </a:rPr>
                        <a:t>R + ggplot2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Myriad Pro Semibold" panose="020B0503030403020204"/>
                        </a:rPr>
                        <a:t>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Myriad Pro Semibold" panose="020B0503030403020204"/>
                        </a:rPr>
                        <a:t>⭐⭐⭐⭐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>
                          <a:latin typeface="Myriad Pro Semibold" panose="020B0503030403020204"/>
                        </a:rPr>
                        <a:t>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Myriad Pro Semibold" panose="020B0503030403020204"/>
                        </a:rPr>
                        <a:t>⭐⭐⭐⭐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775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>
                          <a:latin typeface="Myriad Pro Semibold" panose="020B0503030403020204"/>
                        </a:rPr>
                        <a:t>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>
                          <a:latin typeface="Myriad Pro Semibold" panose="020B0503030403020204"/>
                        </a:rPr>
                        <a:t>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>
                          <a:latin typeface="Myriad Pro Semibold" panose="020B0503030403020204"/>
                        </a:rPr>
                        <a:t>⭐⭐⭐⭐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>
                          <a:latin typeface="Myriad Pro Semibold" panose="020B0503030403020204"/>
                        </a:rPr>
                        <a:t>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Myriad Pro Semibold" panose="020B0503030403020204"/>
                        </a:rPr>
                        <a:t>⭐⭐⭐⭐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733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7585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87227-A819-A421-F791-827ECF822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AE167D64-46E5-1FAE-D96F-8C8335DD1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748" y="363415"/>
            <a:ext cx="6569765" cy="79692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What makes a tool valuable?</a:t>
            </a:r>
            <a:br>
              <a:rPr lang="es-MX" sz="3200" dirty="0"/>
            </a:br>
            <a:r>
              <a:rPr lang="en-US" sz="2200" b="0" dirty="0"/>
              <a:t>Three key principles for making informed decisions</a:t>
            </a:r>
            <a:endParaRPr lang="es-CO" sz="3200" b="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8B01EC1-8204-A54B-1E31-4BE29918F847}"/>
              </a:ext>
            </a:extLst>
          </p:cNvPr>
          <p:cNvSpPr txBox="1"/>
          <p:nvPr/>
        </p:nvSpPr>
        <p:spPr>
          <a:xfrm>
            <a:off x="4795630" y="5438385"/>
            <a:ext cx="67326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Myriad Pro Semibold" panose="020B0503030403020204"/>
              </a:rPr>
              <a:t>“</a:t>
            </a:r>
            <a:r>
              <a:rPr lang="en-US" i="1" dirty="0">
                <a:latin typeface="Myriad Pro Semibold" panose="020B0503030403020204"/>
              </a:rPr>
              <a:t>A good tool does not just display data: it opens up ways to explore it.</a:t>
            </a:r>
            <a:r>
              <a:rPr lang="en-US" dirty="0">
                <a:latin typeface="Myriad Pro Semibold" panose="020B0503030403020204"/>
              </a:rPr>
              <a:t>”</a:t>
            </a:r>
          </a:p>
          <a:p>
            <a:pPr algn="r"/>
            <a:r>
              <a:rPr lang="en-GB" dirty="0">
                <a:latin typeface="Myriad Pro Semibold" panose="020B0503030403020204"/>
              </a:rPr>
              <a:t>— Author unknown</a:t>
            </a:r>
          </a:p>
          <a:p>
            <a:pPr algn="r"/>
            <a:endParaRPr lang="en-US" dirty="0">
              <a:latin typeface="Myriad Pro Semibold" panose="020B0503030403020204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E0FC97-64AF-0208-F68A-931388098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723" y="1622113"/>
            <a:ext cx="648345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yriad Pro Semibold" panose="020B0503030403020204"/>
              </a:rPr>
              <a:t>Reproducibility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yriad Pro Semibold" panose="020B0503030403020204"/>
              </a:rPr>
              <a:t>:</a:t>
            </a:r>
            <a:b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yriad Pro Semibold" panose="020B0503030403020204"/>
              </a:rPr>
            </a:br>
            <a:r>
              <a:rPr kumimoji="0" lang="en-US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yriad Pro Semibold" panose="020B0503030403020204"/>
              </a:rPr>
              <a:t>Allows you to repeat the analysis with new data without having to redo the entire process.</a:t>
            </a:r>
            <a:br>
              <a:rPr kumimoji="0" lang="en-US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yriad Pro Semibold" panose="020B0503030403020204"/>
              </a:rPr>
            </a:br>
            <a:r>
              <a:rPr kumimoji="0" lang="en-US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yriad Pro Semibold" panose="020B0503030403020204"/>
              </a:rPr>
              <a:t>Example: a script in R or Python that generates the same graphs every month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yriad Pro Semibold" panose="020B0503030403020204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yriad Pro Semibold" panose="020B0503030403020204"/>
              </a:rPr>
              <a:t>Flexibility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yriad Pro Semibold" panose="020B0503030403020204"/>
              </a:rPr>
              <a:t>:</a:t>
            </a:r>
            <a:b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yriad Pro Semibold" panose="020B0503030403020204"/>
              </a:rPr>
            </a:br>
            <a:r>
              <a:rPr kumimoji="0" lang="en-US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yriad Pro Semibold" panose="020B0503030403020204"/>
              </a:rPr>
              <a:t>Adapts to different types of data, audiences, and objectives.</a:t>
            </a:r>
            <a:br>
              <a:rPr kumimoji="0" lang="en-US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yriad Pro Semibold" panose="020B0503030403020204"/>
              </a:rPr>
            </a:br>
            <a:r>
              <a:rPr kumimoji="0" lang="en-US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yriad Pro Semibold" panose="020B0503030403020204"/>
              </a:rPr>
              <a:t>Example: easily modify a bar chart to a scatter plot.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yriad Pro Semibold" panose="020B0503030403020204"/>
              </a:rPr>
              <a:t>Interactive </a:t>
            </a: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yriad Pro Semibold" panose="020B0503030403020204"/>
              </a:rPr>
              <a:t>design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yriad Pro Semibold" panose="020B0503030403020204"/>
              </a:rPr>
              <a:t>:</a:t>
            </a:r>
            <a:b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yriad Pro Semibold" panose="020B0503030403020204"/>
              </a:rPr>
            </a:br>
            <a:r>
              <a:rPr kumimoji="0" lang="en-US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yriad Pro Semibold" panose="020B0503030403020204"/>
              </a:rPr>
              <a:t>Facilitates exploration, filtering, and pattern discovery.</a:t>
            </a:r>
            <a:br>
              <a:rPr kumimoji="0" lang="en-US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yriad Pro Semibold" panose="020B0503030403020204"/>
              </a:rPr>
            </a:br>
            <a:r>
              <a:rPr kumimoji="0" lang="en-US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yriad Pro Semibold" panose="020B0503030403020204"/>
              </a:rPr>
              <a:t>Example: dashboards with slicers or maps with dynamic filters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yriad Pro Semibold" panose="020B0503030403020204"/>
              </a:rPr>
              <a:t>.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2E06C1AF-184E-BA20-4AF4-12D766145B83}"/>
              </a:ext>
            </a:extLst>
          </p:cNvPr>
          <p:cNvGrpSpPr/>
          <p:nvPr/>
        </p:nvGrpSpPr>
        <p:grpSpPr>
          <a:xfrm>
            <a:off x="7418092" y="2047416"/>
            <a:ext cx="3839265" cy="3383898"/>
            <a:chOff x="7360513" y="1795467"/>
            <a:chExt cx="3839265" cy="3383898"/>
          </a:xfrm>
        </p:grpSpPr>
        <p:pic>
          <p:nvPicPr>
            <p:cNvPr id="4" name="Gráfico 3" descr="Cursor con relleno sólido">
              <a:extLst>
                <a:ext uri="{FF2B5EF4-FFF2-40B4-BE49-F238E27FC236}">
                  <a16:creationId xmlns:a16="http://schemas.microsoft.com/office/drawing/2014/main" id="{661013C9-6AE1-130D-C42F-890D9A788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759778" y="3739365"/>
              <a:ext cx="1440000" cy="1440000"/>
            </a:xfrm>
            <a:prstGeom prst="rect">
              <a:avLst/>
            </a:prstGeom>
          </p:spPr>
        </p:pic>
        <p:pic>
          <p:nvPicPr>
            <p:cNvPr id="8" name="Gráfico 7" descr="Engranaje único con relleno sólido">
              <a:extLst>
                <a:ext uri="{FF2B5EF4-FFF2-40B4-BE49-F238E27FC236}">
                  <a16:creationId xmlns:a16="http://schemas.microsoft.com/office/drawing/2014/main" id="{B0196BE4-9C28-5F82-06F1-CDEF9C6F3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60146" y="2767416"/>
              <a:ext cx="1440000" cy="1440000"/>
            </a:xfrm>
            <a:prstGeom prst="rect">
              <a:avLst/>
            </a:prstGeom>
          </p:spPr>
        </p:pic>
        <p:pic>
          <p:nvPicPr>
            <p:cNvPr id="10" name="Gráfico 9" descr="Búsqueda de carpetas con relleno sólido">
              <a:extLst>
                <a:ext uri="{FF2B5EF4-FFF2-40B4-BE49-F238E27FC236}">
                  <a16:creationId xmlns:a16="http://schemas.microsoft.com/office/drawing/2014/main" id="{B11795E2-4D93-441D-5725-D11EC2B84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60513" y="1795467"/>
              <a:ext cx="1440000" cy="14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77191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0496C-6775-2D00-7A89-AD1D51FA9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845A2A54-F09A-61A0-4DC8-79951C336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748" y="237005"/>
            <a:ext cx="6569765" cy="923330"/>
          </a:xfrm>
        </p:spPr>
        <p:txBody>
          <a:bodyPr>
            <a:normAutofit/>
          </a:bodyPr>
          <a:lstStyle/>
          <a:p>
            <a:r>
              <a:rPr lang="es-MX" sz="3200" dirty="0" err="1"/>
              <a:t>Choosing</a:t>
            </a:r>
            <a:r>
              <a:rPr lang="es-MX" sz="3200" dirty="0"/>
              <a:t> </a:t>
            </a:r>
            <a:r>
              <a:rPr lang="es-MX" sz="3200" dirty="0" err="1"/>
              <a:t>the</a:t>
            </a:r>
            <a:r>
              <a:rPr lang="es-MX" sz="3200" dirty="0"/>
              <a:t> </a:t>
            </a:r>
            <a:r>
              <a:rPr lang="es-MX" sz="3200" dirty="0" err="1"/>
              <a:t>right</a:t>
            </a:r>
            <a:r>
              <a:rPr lang="es-MX" sz="3200" dirty="0"/>
              <a:t> </a:t>
            </a:r>
            <a:r>
              <a:rPr lang="es-MX" sz="3200" dirty="0" err="1"/>
              <a:t>tool</a:t>
            </a:r>
            <a:br>
              <a:rPr lang="es-MX" sz="3200" dirty="0"/>
            </a:br>
            <a:r>
              <a:rPr lang="en-US" sz="2200" b="0" dirty="0"/>
              <a:t>A decision that depends on you and your context</a:t>
            </a:r>
            <a:endParaRPr lang="es-CO" sz="3200" b="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76E1A19-03E5-93D3-9E1D-7EE8BB257F66}"/>
              </a:ext>
            </a:extLst>
          </p:cNvPr>
          <p:cNvSpPr txBox="1"/>
          <p:nvPr/>
        </p:nvSpPr>
        <p:spPr>
          <a:xfrm>
            <a:off x="4930707" y="5518948"/>
            <a:ext cx="67326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Myriad Pro Semibold" panose="020B0503030403020204"/>
              </a:rPr>
              <a:t>“</a:t>
            </a:r>
            <a:r>
              <a:rPr lang="en-US" i="1" dirty="0">
                <a:latin typeface="Myriad Pro Semibold" panose="020B0503030403020204"/>
              </a:rPr>
              <a:t>There is no such thing as the best tool, only the most suitable one for your needs</a:t>
            </a:r>
            <a:r>
              <a:rPr lang="es-MX" i="1" dirty="0">
                <a:latin typeface="Myriad Pro Semibold" panose="020B0503030403020204"/>
              </a:rPr>
              <a:t>.</a:t>
            </a:r>
            <a:r>
              <a:rPr lang="en-US" dirty="0">
                <a:latin typeface="Myriad Pro Semibold" panose="020B0503030403020204"/>
              </a:rPr>
              <a:t>”</a:t>
            </a:r>
          </a:p>
          <a:p>
            <a:pPr algn="r"/>
            <a:r>
              <a:rPr lang="en-GB" dirty="0">
                <a:latin typeface="Myriad Pro Semibold" panose="020B0503030403020204"/>
              </a:rPr>
              <a:t>— Author unknown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76C0D9-198E-D1CE-7C1F-4AF2AD736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989" y="1580274"/>
            <a:ext cx="648345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yriad Pro Semibold" panose="020B0503030403020204"/>
              </a:rPr>
              <a:t>How comfortable are you with using code?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yriad Pro Semibold" panose="020B0503030403020204"/>
              </a:rPr>
              <a:t>Do you need to create interactive or automated visualizations?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yriad Pro Semibold" panose="020B0503030403020204"/>
              </a:rPr>
              <a:t>Who will use or interpret your graphics?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yriad Pro Semibold" panose="020B0503030403020204"/>
              </a:rPr>
              <a:t>Is presentation or process traceability more important?</a:t>
            </a:r>
            <a:endParaRPr kumimoji="0" lang="es-CO" altLang="es-CO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yriad Pro Semibold" panose="020B0503030403020204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04E22168-5746-C5C7-94B6-5D0D2DEDAFD4}"/>
              </a:ext>
            </a:extLst>
          </p:cNvPr>
          <p:cNvGrpSpPr/>
          <p:nvPr/>
        </p:nvGrpSpPr>
        <p:grpSpPr>
          <a:xfrm>
            <a:off x="2395541" y="3721901"/>
            <a:ext cx="7400919" cy="1440000"/>
            <a:chOff x="1510748" y="3721901"/>
            <a:chExt cx="7400919" cy="1440000"/>
          </a:xfrm>
        </p:grpSpPr>
        <p:pic>
          <p:nvPicPr>
            <p:cNvPr id="4098" name="Picture 2">
              <a:extLst>
                <a:ext uri="{FF2B5EF4-FFF2-40B4-BE49-F238E27FC236}">
                  <a16:creationId xmlns:a16="http://schemas.microsoft.com/office/drawing/2014/main" id="{F76AAC1E-5BF6-7970-A682-E139AD3E16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0748" y="3721901"/>
              <a:ext cx="1440000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2" name="Picture 6">
              <a:extLst>
                <a:ext uri="{FF2B5EF4-FFF2-40B4-BE49-F238E27FC236}">
                  <a16:creationId xmlns:a16="http://schemas.microsoft.com/office/drawing/2014/main" id="{A9F32868-92DB-EB9E-044B-076F2E1408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2395" y="3721901"/>
              <a:ext cx="1858000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4" name="Picture 8">
              <a:extLst>
                <a:ext uri="{FF2B5EF4-FFF2-40B4-BE49-F238E27FC236}">
                  <a16:creationId xmlns:a16="http://schemas.microsoft.com/office/drawing/2014/main" id="{635B2A28-3CF3-4E36-66BE-ED27B2474B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2042" y="3721901"/>
              <a:ext cx="1308548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6" name="Picture 10">
              <a:extLst>
                <a:ext uri="{FF2B5EF4-FFF2-40B4-BE49-F238E27FC236}">
                  <a16:creationId xmlns:a16="http://schemas.microsoft.com/office/drawing/2014/main" id="{12701A04-6525-3E96-A532-7FDFEDD83E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12238" y="3721901"/>
              <a:ext cx="1499429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09461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298B845B-C4CD-28DA-6727-D91E3B66FE65}"/>
              </a:ext>
            </a:extLst>
          </p:cNvPr>
          <p:cNvSpPr txBox="1">
            <a:spLocks/>
          </p:cNvSpPr>
          <p:nvPr/>
        </p:nvSpPr>
        <p:spPr>
          <a:xfrm>
            <a:off x="2726508" y="2431134"/>
            <a:ext cx="6738985" cy="1995732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kern="1200" dirty="0">
                <a:solidFill>
                  <a:schemeClr val="bg2">
                    <a:lumMod val="50000"/>
                  </a:schemeClr>
                </a:solidFill>
                <a:latin typeface="Myriad Pro Semibold" panose="020B0503030403020204" pitchFamily="34" charset="0"/>
                <a:ea typeface="+mn-ea"/>
                <a:cs typeface="+mn-cs"/>
              </a:defRPr>
            </a:lvl1pPr>
          </a:lstStyle>
          <a:p>
            <a:pPr algn="ctr"/>
            <a:r>
              <a:rPr lang="en-GB" sz="8800" dirty="0"/>
              <a:t>Storytelling</a:t>
            </a:r>
          </a:p>
          <a:p>
            <a:pPr algn="ctr"/>
            <a:r>
              <a:rPr lang="en-GB" sz="4800" b="0" dirty="0"/>
              <a:t>(with data)</a:t>
            </a:r>
          </a:p>
        </p:txBody>
      </p:sp>
    </p:spTree>
    <p:extLst>
      <p:ext uri="{BB962C8B-B14F-4D97-AF65-F5344CB8AC3E}">
        <p14:creationId xmlns:p14="http://schemas.microsoft.com/office/powerpoint/2010/main" val="1532311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FDEA2FEB-103C-4F1E-9689-2835C107D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748" y="237004"/>
            <a:ext cx="8121524" cy="119081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From fire to dashboard: a brief history of storytelling</a:t>
            </a:r>
            <a:br>
              <a:rPr lang="es-MX" sz="3200" dirty="0"/>
            </a:br>
            <a:r>
              <a:rPr lang="en-US" sz="2200" b="0" dirty="0"/>
              <a:t>From telling oral stories to constructing visual narratives with data</a:t>
            </a:r>
            <a:endParaRPr lang="es-CO" sz="3200" b="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BD0509C-9652-C42A-8002-2D45E4BA9BAB}"/>
              </a:ext>
            </a:extLst>
          </p:cNvPr>
          <p:cNvSpPr txBox="1"/>
          <p:nvPr/>
        </p:nvSpPr>
        <p:spPr>
          <a:xfrm>
            <a:off x="3937808" y="5774969"/>
            <a:ext cx="67326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Myriad Pro Semibold" panose="020B0503030403020204"/>
              </a:rPr>
              <a:t>“</a:t>
            </a:r>
            <a:r>
              <a:rPr lang="en-US" i="1" dirty="0">
                <a:latin typeface="Myriad Pro Semibold" panose="020B0503030403020204"/>
              </a:rPr>
              <a:t>Telling stories with data means combining the logic of numbers with the power of narrative</a:t>
            </a:r>
            <a:r>
              <a:rPr lang="es-MX" i="1" dirty="0">
                <a:latin typeface="Myriad Pro Semibold" panose="020B0503030403020204"/>
              </a:rPr>
              <a:t>.</a:t>
            </a:r>
            <a:r>
              <a:rPr lang="en-US" dirty="0">
                <a:latin typeface="Myriad Pro Semibold" panose="020B0503030403020204"/>
              </a:rPr>
              <a:t>”</a:t>
            </a:r>
          </a:p>
          <a:p>
            <a:pPr algn="r"/>
            <a:r>
              <a:rPr lang="en-GB" dirty="0">
                <a:latin typeface="Myriad Pro Semibold" panose="020B0503030403020204"/>
              </a:rPr>
              <a:t>— Author unknown</a:t>
            </a:r>
          </a:p>
        </p:txBody>
      </p:sp>
      <p:grpSp>
        <p:nvGrpSpPr>
          <p:cNvPr id="37" name="Grupo 36">
            <a:extLst>
              <a:ext uri="{FF2B5EF4-FFF2-40B4-BE49-F238E27FC236}">
                <a16:creationId xmlns:a16="http://schemas.microsoft.com/office/drawing/2014/main" id="{144B322A-D3C8-3EDD-AAFD-761AC0204D8D}"/>
              </a:ext>
            </a:extLst>
          </p:cNvPr>
          <p:cNvGrpSpPr/>
          <p:nvPr/>
        </p:nvGrpSpPr>
        <p:grpSpPr>
          <a:xfrm>
            <a:off x="1681605" y="1539466"/>
            <a:ext cx="8828790" cy="4167715"/>
            <a:chOff x="1681605" y="1539466"/>
            <a:chExt cx="8828790" cy="4167715"/>
          </a:xfrm>
        </p:grpSpPr>
        <p:grpSp>
          <p:nvGrpSpPr>
            <p:cNvPr id="36" name="Grupo 35">
              <a:extLst>
                <a:ext uri="{FF2B5EF4-FFF2-40B4-BE49-F238E27FC236}">
                  <a16:creationId xmlns:a16="http://schemas.microsoft.com/office/drawing/2014/main" id="{72BE9540-4FA7-6262-09CF-34A2BBF242B7}"/>
                </a:ext>
              </a:extLst>
            </p:cNvPr>
            <p:cNvGrpSpPr/>
            <p:nvPr/>
          </p:nvGrpSpPr>
          <p:grpSpPr>
            <a:xfrm>
              <a:off x="1681605" y="2844859"/>
              <a:ext cx="8828790" cy="2862322"/>
              <a:chOff x="1681605" y="2844859"/>
              <a:chExt cx="8828790" cy="2862322"/>
            </a:xfrm>
          </p:grpSpPr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90F9F312-329C-A747-3D26-03F21AC47AF6}"/>
                  </a:ext>
                </a:extLst>
              </p:cNvPr>
              <p:cNvSpPr txBox="1"/>
              <p:nvPr/>
            </p:nvSpPr>
            <p:spPr>
              <a:xfrm>
                <a:off x="1681605" y="2844859"/>
                <a:ext cx="2844800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s-MX" b="1" dirty="0" err="1">
                    <a:solidFill>
                      <a:schemeClr val="bg2">
                        <a:lumMod val="10000"/>
                      </a:schemeClr>
                    </a:solidFill>
                    <a:latin typeface="Myriad Pro Semibold" panose="020B0503030403020204"/>
                  </a:rPr>
                  <a:t>Origin</a:t>
                </a:r>
                <a:r>
                  <a:rPr lang="es-MX" b="1" dirty="0">
                    <a:solidFill>
                      <a:schemeClr val="bg2">
                        <a:lumMod val="10000"/>
                      </a:schemeClr>
                    </a:solidFill>
                    <a:latin typeface="Myriad Pro Semibold" panose="020B0503030403020204"/>
                  </a:rPr>
                  <a:t> </a:t>
                </a:r>
                <a:r>
                  <a:rPr lang="es-MX" b="1" dirty="0" err="1">
                    <a:solidFill>
                      <a:schemeClr val="bg2">
                        <a:lumMod val="10000"/>
                      </a:schemeClr>
                    </a:solidFill>
                    <a:latin typeface="Myriad Pro Semibold" panose="020B0503030403020204"/>
                  </a:rPr>
                  <a:t>of</a:t>
                </a:r>
                <a:r>
                  <a:rPr lang="es-MX" b="1" dirty="0">
                    <a:solidFill>
                      <a:schemeClr val="bg2">
                        <a:lumMod val="10000"/>
                      </a:schemeClr>
                    </a:solidFill>
                    <a:latin typeface="Myriad Pro Semibold" panose="020B0503030403020204"/>
                  </a:rPr>
                  <a:t> </a:t>
                </a:r>
                <a:r>
                  <a:rPr lang="es-MX" b="1" dirty="0" err="1">
                    <a:solidFill>
                      <a:schemeClr val="bg2">
                        <a:lumMod val="10000"/>
                      </a:schemeClr>
                    </a:solidFill>
                    <a:latin typeface="Myriad Pro Semibold" panose="020B0503030403020204"/>
                  </a:rPr>
                  <a:t>storytelling</a:t>
                </a:r>
                <a:endParaRPr lang="es-MX" dirty="0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Myriad Pro Semibold" panose="020B0503030403020204"/>
                  </a:rPr>
                  <a:t>It emerged in oral communities to transmit knowledge, emotions and culture.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Myriad Pro Semibold" panose="020B0503030403020204"/>
                  </a:rPr>
                  <a:t>It evolved with writing, printing, cinema and digital media</a:t>
                </a:r>
                <a:r>
                  <a:rPr lang="es-MX" dirty="0">
                    <a:solidFill>
                      <a:schemeClr val="bg2">
                        <a:lumMod val="10000"/>
                      </a:schemeClr>
                    </a:solidFill>
                    <a:latin typeface="Myriad Pro Semibold" panose="020B0503030403020204"/>
                  </a:rPr>
                  <a:t>.</a:t>
                </a:r>
              </a:p>
            </p:txBody>
          </p:sp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BD920CDA-5D40-3BA1-AAE5-24D47BFABB8A}"/>
                  </a:ext>
                </a:extLst>
              </p:cNvPr>
              <p:cNvSpPr txBox="1"/>
              <p:nvPr/>
            </p:nvSpPr>
            <p:spPr>
              <a:xfrm>
                <a:off x="4674400" y="2844859"/>
                <a:ext cx="2844000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s-MX" b="1" dirty="0" err="1">
                    <a:solidFill>
                      <a:schemeClr val="bg2">
                        <a:lumMod val="10000"/>
                      </a:schemeClr>
                    </a:solidFill>
                    <a:latin typeface="Myriad Pro Semibold" panose="020B0503030403020204"/>
                  </a:rPr>
                  <a:t>What</a:t>
                </a:r>
                <a:r>
                  <a:rPr lang="es-MX" b="1" dirty="0">
                    <a:solidFill>
                      <a:schemeClr val="bg2">
                        <a:lumMod val="10000"/>
                      </a:schemeClr>
                    </a:solidFill>
                    <a:latin typeface="Myriad Pro Semibold" panose="020B0503030403020204"/>
                  </a:rPr>
                  <a:t> </a:t>
                </a:r>
                <a:r>
                  <a:rPr lang="es-MX" b="1" dirty="0" err="1">
                    <a:solidFill>
                      <a:schemeClr val="bg2">
                        <a:lumMod val="10000"/>
                      </a:schemeClr>
                    </a:solidFill>
                    <a:latin typeface="Myriad Pro Semibold" panose="020B0503030403020204"/>
                  </a:rPr>
                  <a:t>is</a:t>
                </a:r>
                <a:r>
                  <a:rPr lang="es-MX" b="1" dirty="0">
                    <a:solidFill>
                      <a:schemeClr val="bg2">
                        <a:lumMod val="10000"/>
                      </a:schemeClr>
                    </a:solidFill>
                    <a:latin typeface="Myriad Pro Semibold" panose="020B0503030403020204"/>
                  </a:rPr>
                  <a:t> </a:t>
                </a:r>
                <a:r>
                  <a:rPr lang="es-MX" b="1" dirty="0" err="1">
                    <a:solidFill>
                      <a:schemeClr val="bg2">
                        <a:lumMod val="10000"/>
                      </a:schemeClr>
                    </a:solidFill>
                    <a:latin typeface="Myriad Pro Semibold" panose="020B0503030403020204"/>
                  </a:rPr>
                  <a:t>storytelling</a:t>
                </a:r>
                <a:r>
                  <a:rPr lang="es-MX" b="1" dirty="0">
                    <a:solidFill>
                      <a:schemeClr val="bg2">
                        <a:lumMod val="10000"/>
                      </a:schemeClr>
                    </a:solidFill>
                    <a:latin typeface="Myriad Pro Semibold" panose="020B0503030403020204"/>
                  </a:rPr>
                  <a:t>?</a:t>
                </a:r>
                <a:endParaRPr lang="es-MX" dirty="0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Myriad Pro Semibold" panose="020B0503030403020204"/>
                  </a:rPr>
                  <a:t>It is the art of structuring and communicating ideas through a purposeful narrative.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Myriad Pro Semibold" panose="020B0503030403020204"/>
                  </a:rPr>
                  <a:t>Key elements: characters, conflict, emotion, and transformation</a:t>
                </a:r>
                <a:r>
                  <a:rPr lang="es-MX" dirty="0">
                    <a:solidFill>
                      <a:schemeClr val="bg2">
                        <a:lumMod val="10000"/>
                      </a:schemeClr>
                    </a:solidFill>
                    <a:latin typeface="Myriad Pro Semibold" panose="020B0503030403020204"/>
                  </a:rPr>
                  <a:t>.</a:t>
                </a:r>
              </a:p>
            </p:txBody>
          </p:sp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B1860FF4-F2E6-6BFC-8C69-89B4CE0702D5}"/>
                  </a:ext>
                </a:extLst>
              </p:cNvPr>
              <p:cNvSpPr txBox="1"/>
              <p:nvPr/>
            </p:nvSpPr>
            <p:spPr>
              <a:xfrm>
                <a:off x="7666395" y="2844859"/>
                <a:ext cx="2844000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s-MX" b="1" dirty="0" err="1">
                    <a:solidFill>
                      <a:schemeClr val="bg2">
                        <a:lumMod val="10000"/>
                      </a:schemeClr>
                    </a:solidFill>
                    <a:latin typeface="Myriad Pro Semibold" panose="020B0503030403020204"/>
                  </a:rPr>
                  <a:t>Storytelling</a:t>
                </a:r>
                <a:r>
                  <a:rPr lang="es-MX" b="1" dirty="0">
                    <a:solidFill>
                      <a:schemeClr val="bg2">
                        <a:lumMod val="10000"/>
                      </a:schemeClr>
                    </a:solidFill>
                    <a:latin typeface="Myriad Pro Semibold" panose="020B0503030403020204"/>
                  </a:rPr>
                  <a:t> </a:t>
                </a:r>
                <a:r>
                  <a:rPr lang="es-MX" b="1" dirty="0" err="1">
                    <a:solidFill>
                      <a:schemeClr val="bg2">
                        <a:lumMod val="10000"/>
                      </a:schemeClr>
                    </a:solidFill>
                    <a:latin typeface="Myriad Pro Semibold" panose="020B0503030403020204"/>
                  </a:rPr>
                  <a:t>with</a:t>
                </a:r>
                <a:r>
                  <a:rPr lang="es-MX" b="1" dirty="0">
                    <a:solidFill>
                      <a:schemeClr val="bg2">
                        <a:lumMod val="10000"/>
                      </a:schemeClr>
                    </a:solidFill>
                    <a:latin typeface="Myriad Pro Semibold" panose="020B0503030403020204"/>
                  </a:rPr>
                  <a:t> data</a:t>
                </a:r>
                <a:endParaRPr lang="es-MX" dirty="0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Myriad Pro Semibold" panose="020B0503030403020204"/>
                  </a:rPr>
                  <a:t>Integrates quantitative analysis with narrative structure.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Myriad Pro Semibold" panose="020B0503030403020204"/>
                  </a:rPr>
                  <a:t>Converts data into meaningful, action-oriented messages.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Myriad Pro Semibold" panose="020B0503030403020204"/>
                  </a:rPr>
                  <a:t>Uses graphics, text and design to show what matters</a:t>
                </a:r>
                <a:r>
                  <a:rPr lang="es-MX" dirty="0">
                    <a:solidFill>
                      <a:schemeClr val="bg2">
                        <a:lumMod val="10000"/>
                      </a:schemeClr>
                    </a:solidFill>
                    <a:latin typeface="Myriad Pro Semibold" panose="020B0503030403020204"/>
                  </a:rPr>
                  <a:t>.</a:t>
                </a:r>
              </a:p>
            </p:txBody>
          </p:sp>
        </p:grpSp>
        <p:pic>
          <p:nvPicPr>
            <p:cNvPr id="31" name="Imagen 30" descr="Flecha&#10;&#10;El contenido generado por IA puede ser incorrecto.">
              <a:extLst>
                <a:ext uri="{FF2B5EF4-FFF2-40B4-BE49-F238E27FC236}">
                  <a16:creationId xmlns:a16="http://schemas.microsoft.com/office/drawing/2014/main" id="{FB1D8607-EACD-BBCA-F3CD-2AFBF5173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70202" y="1573264"/>
              <a:ext cx="1667606" cy="1256522"/>
            </a:xfrm>
            <a:prstGeom prst="rect">
              <a:avLst/>
            </a:prstGeom>
          </p:spPr>
        </p:pic>
        <p:pic>
          <p:nvPicPr>
            <p:cNvPr id="33" name="Gráfico 32" descr="Narración contorno">
              <a:extLst>
                <a:ext uri="{FF2B5EF4-FFF2-40B4-BE49-F238E27FC236}">
                  <a16:creationId xmlns:a16="http://schemas.microsoft.com/office/drawing/2014/main" id="{C7AF4D39-BEE1-15EF-5232-D718D21895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50840" y="1539466"/>
              <a:ext cx="1290320" cy="1290320"/>
            </a:xfrm>
            <a:prstGeom prst="rect">
              <a:avLst/>
            </a:prstGeom>
          </p:spPr>
        </p:pic>
        <p:pic>
          <p:nvPicPr>
            <p:cNvPr id="35" name="Imagen 34" descr="Imagen en blanco y negro&#10;&#10;El contenido generado por IA puede ser incorrecto.">
              <a:extLst>
                <a:ext uri="{FF2B5EF4-FFF2-40B4-BE49-F238E27FC236}">
                  <a16:creationId xmlns:a16="http://schemas.microsoft.com/office/drawing/2014/main" id="{D706AD4D-CCB6-8B56-7DC9-0248B4B6FB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04221" y="1753727"/>
              <a:ext cx="1768349" cy="10760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93564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81B9D-E5C8-6801-2852-D7360E34E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B8E54A2A-06E6-3F9A-27DC-21602CFC2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748" y="237005"/>
            <a:ext cx="8121524" cy="1169764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Telling stories with data is not the same as showing data</a:t>
            </a:r>
            <a:br>
              <a:rPr lang="es-MX" sz="3200" dirty="0"/>
            </a:br>
            <a:r>
              <a:rPr lang="en-US" sz="2200" b="0" dirty="0"/>
              <a:t>Narrative as a bridge between numbers and meaning</a:t>
            </a:r>
            <a:endParaRPr lang="es-CO" sz="3200" b="0" dirty="0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9EC19D11-1D30-C4C3-5BBE-C4B7C6B209BE}"/>
              </a:ext>
            </a:extLst>
          </p:cNvPr>
          <p:cNvGrpSpPr/>
          <p:nvPr/>
        </p:nvGrpSpPr>
        <p:grpSpPr>
          <a:xfrm>
            <a:off x="1745491" y="1504324"/>
            <a:ext cx="8701018" cy="4957435"/>
            <a:chOff x="2492292" y="1504324"/>
            <a:chExt cx="8701018" cy="4957435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013F5FD9-071B-030C-9822-C7F73AE7D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29834" y="1504324"/>
              <a:ext cx="6063476" cy="4957435"/>
            </a:xfrm>
            <a:prstGeom prst="rect">
              <a:avLst/>
            </a:prstGeom>
          </p:spPr>
        </p:pic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CDD129A5-C627-8A4E-7335-CA461D121D70}"/>
                </a:ext>
              </a:extLst>
            </p:cNvPr>
            <p:cNvSpPr txBox="1"/>
            <p:nvPr/>
          </p:nvSpPr>
          <p:spPr>
            <a:xfrm>
              <a:off x="2492292" y="2008892"/>
              <a:ext cx="2519680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yriad Pro Semibold" panose="020B0503030403020204"/>
                </a:rPr>
                <a:t>Which of the two figures shows data and which tells a story?</a:t>
              </a:r>
              <a:endParaRPr lang="es-CO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yriad Pro Semibold" panose="020B0503030403020204"/>
              </a:endParaRPr>
            </a:p>
          </p:txBody>
        </p: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B7F2692-9C5D-6468-B412-6A4628EEC692}"/>
              </a:ext>
            </a:extLst>
          </p:cNvPr>
          <p:cNvSpPr txBox="1"/>
          <p:nvPr/>
        </p:nvSpPr>
        <p:spPr>
          <a:xfrm>
            <a:off x="1284010" y="5762774"/>
            <a:ext cx="59623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yriad Pro Semibold" panose="020B0503030403020204"/>
              </a:rPr>
              <a:t>“</a:t>
            </a:r>
            <a:r>
              <a:rPr lang="en-US" i="1" dirty="0">
                <a:latin typeface="Myriad Pro Semibold" panose="020B0503030403020204"/>
              </a:rPr>
              <a:t>Data without context is noise. Context without data is opinion</a:t>
            </a:r>
            <a:r>
              <a:rPr lang="es-MX" i="1" dirty="0">
                <a:latin typeface="Myriad Pro Semibold" panose="020B0503030403020204"/>
              </a:rPr>
              <a:t>.</a:t>
            </a:r>
            <a:r>
              <a:rPr lang="en-US" dirty="0">
                <a:latin typeface="Myriad Pro Semibold" panose="020B0503030403020204"/>
              </a:rPr>
              <a:t>”</a:t>
            </a:r>
          </a:p>
          <a:p>
            <a:r>
              <a:rPr lang="en-US" dirty="0">
                <a:latin typeface="Myriad Pro Semibold" panose="020B0503030403020204"/>
              </a:rPr>
              <a:t>— Adapted of Cole Nussbaumer</a:t>
            </a:r>
            <a:endParaRPr lang="es-CO" dirty="0">
              <a:latin typeface="Myriad Pro Semibold" panose="020B0503030403020204"/>
            </a:endParaRPr>
          </a:p>
        </p:txBody>
      </p:sp>
    </p:spTree>
    <p:extLst>
      <p:ext uri="{BB962C8B-B14F-4D97-AF65-F5344CB8AC3E}">
        <p14:creationId xmlns:p14="http://schemas.microsoft.com/office/powerpoint/2010/main" val="1404825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EF9B4-0298-63DA-4985-DE36FC0B7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C059D2BD-8F57-7E7A-ED03-DC913911A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748" y="356562"/>
            <a:ext cx="8121524" cy="923329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Every good story has structure</a:t>
            </a:r>
            <a:br>
              <a:rPr lang="es-MX" sz="3200" dirty="0"/>
            </a:br>
            <a:r>
              <a:rPr lang="en-US" sz="2200" b="0" dirty="0"/>
              <a:t>Start, development, and conclusion to guide understanding of the data</a:t>
            </a:r>
            <a:endParaRPr lang="es-CO" sz="3200" b="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1D87BEE-910E-5B8B-3148-2E14723B0438}"/>
              </a:ext>
            </a:extLst>
          </p:cNvPr>
          <p:cNvSpPr txBox="1"/>
          <p:nvPr/>
        </p:nvSpPr>
        <p:spPr>
          <a:xfrm>
            <a:off x="4660777" y="5855107"/>
            <a:ext cx="6732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Myriad Pro Semibold" panose="020B0503030403020204"/>
              </a:rPr>
              <a:t>“</a:t>
            </a:r>
            <a:r>
              <a:rPr lang="en-US" i="1" dirty="0">
                <a:latin typeface="Myriad Pro Semibold" panose="020B0503030403020204"/>
              </a:rPr>
              <a:t>Without narrative structure, data gets lost in the noise</a:t>
            </a:r>
            <a:r>
              <a:rPr lang="es-MX" i="1" dirty="0">
                <a:latin typeface="Myriad Pro Semibold" panose="020B0503030403020204"/>
              </a:rPr>
              <a:t>.</a:t>
            </a:r>
            <a:r>
              <a:rPr lang="en-US" dirty="0">
                <a:latin typeface="Myriad Pro Semibold" panose="020B0503030403020204"/>
              </a:rPr>
              <a:t>”</a:t>
            </a:r>
          </a:p>
          <a:p>
            <a:pPr algn="r"/>
            <a:r>
              <a:rPr lang="en-GB" dirty="0">
                <a:latin typeface="Myriad Pro Semibold" panose="020B0503030403020204"/>
              </a:rPr>
              <a:t>— Author unknown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DE7D2F2-1688-5434-34D5-6C3FFA570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3202" y="1569491"/>
            <a:ext cx="5067795" cy="4143376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E6F4555C-372E-5C90-54AB-0150676D0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4935" y="2032239"/>
            <a:ext cx="307234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Myriad Pro Semibold" panose="020B0503030403020204"/>
              </a:rPr>
              <a:t>Introduction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Myriad Pro Semibold" panose="020B0503030403020204"/>
              </a:rPr>
              <a:t>: </a:t>
            </a:r>
            <a:r>
              <a:rPr kumimoji="0" lang="en-US" altLang="es-CO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Myriad Pro Semibold" panose="020B0503030403020204"/>
              </a:rPr>
              <a:t>sets out the context or problem (why does it matter?)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Myriad Pro Semibold" panose="020B0503030403020204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Myriad Pro Semibold" panose="020B0503030403020204"/>
              </a:rPr>
              <a:t>Development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Myriad Pro Semibold" panose="020B0503030403020204"/>
              </a:rPr>
              <a:t>: </a:t>
            </a:r>
            <a:r>
              <a:rPr kumimoji="0" lang="en-US" altLang="es-CO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Myriad Pro Semibold" panose="020B0503030403020204"/>
              </a:rPr>
              <a:t>Present the analysis in a logical progression (What is happening?)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Myriad Pro Semibold" panose="020B0503030403020204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Myriad Pro Semibold" panose="020B0503030403020204"/>
              </a:rPr>
              <a:t>Closing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Myriad Pro Semibold" panose="020B0503030403020204"/>
              </a:rPr>
              <a:t>: </a:t>
            </a:r>
            <a:r>
              <a:rPr kumimoji="0" lang="en-US" altLang="es-CO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Myriad Pro Semibold" panose="020B0503030403020204"/>
              </a:rPr>
              <a:t>Conclude with a message or call to action (What happens next?)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Myriad Pro Semibold" panose="020B050303040302020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98556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AAFE7-D63D-09D8-AB7D-4E9209E6D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7E7035AA-22A0-71CC-90B0-83447736C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748" y="356562"/>
            <a:ext cx="8121524" cy="80377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Designing is deciding what to see first</a:t>
            </a:r>
            <a:br>
              <a:rPr lang="es-MX" sz="3200" dirty="0"/>
            </a:br>
            <a:r>
              <a:rPr lang="en-US" sz="2200" b="0" dirty="0"/>
              <a:t>Graphic principles for communicating clearly and stylishly</a:t>
            </a:r>
            <a:endParaRPr lang="es-CO" sz="3200" b="0" dirty="0"/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B26D5246-27A5-71AB-27B9-DE4C78C72097}"/>
              </a:ext>
            </a:extLst>
          </p:cNvPr>
          <p:cNvGrpSpPr/>
          <p:nvPr/>
        </p:nvGrpSpPr>
        <p:grpSpPr>
          <a:xfrm>
            <a:off x="1109677" y="1514900"/>
            <a:ext cx="10179645" cy="4182765"/>
            <a:chOff x="1109677" y="1514900"/>
            <a:chExt cx="10179645" cy="4182765"/>
          </a:xfrm>
        </p:grpSpPr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56B25F02-B5A9-AD67-018A-4FCD45B5B2D2}"/>
                </a:ext>
              </a:extLst>
            </p:cNvPr>
            <p:cNvSpPr txBox="1"/>
            <p:nvPr/>
          </p:nvSpPr>
          <p:spPr>
            <a:xfrm>
              <a:off x="1109677" y="3112342"/>
              <a:ext cx="3240000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s-MX" b="1" dirty="0" err="1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Colour</a:t>
              </a:r>
              <a:r>
                <a:rPr lang="es-MX" b="1" dirty="0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 </a:t>
              </a:r>
              <a:r>
                <a:rPr lang="es-MX" b="1" dirty="0" err="1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theory</a:t>
              </a:r>
              <a:endParaRPr lang="es-MX" dirty="0">
                <a:solidFill>
                  <a:schemeClr val="bg2">
                    <a:lumMod val="10000"/>
                  </a:schemeClr>
                </a:solidFill>
                <a:latin typeface="Myriad Pro Semibold" panose="020B0503030403020204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Colour</a:t>
              </a:r>
              <a:r>
                <a:rPr lang="en-US" dirty="0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 guides attention, it does not decorate.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Harmonious palettes vs. distracting </a:t>
              </a:r>
              <a:r>
                <a:rPr lang="en-US" dirty="0" err="1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colours</a:t>
              </a:r>
              <a:r>
                <a:rPr lang="en-US" dirty="0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Contrast for accessibility.</a:t>
              </a:r>
              <a:endParaRPr lang="es-MX" dirty="0">
                <a:solidFill>
                  <a:schemeClr val="bg2">
                    <a:lumMod val="10000"/>
                  </a:schemeClr>
                </a:solidFill>
                <a:latin typeface="Myriad Pro Semibold" panose="020B0503030403020204"/>
              </a:endParaRP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2CE2DE6B-DD0B-E08E-4D8F-F837685485B8}"/>
                </a:ext>
              </a:extLst>
            </p:cNvPr>
            <p:cNvSpPr txBox="1"/>
            <p:nvPr/>
          </p:nvSpPr>
          <p:spPr>
            <a:xfrm>
              <a:off x="4476000" y="3112342"/>
              <a:ext cx="3240000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s-MX" b="1" dirty="0" err="1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Typography</a:t>
              </a:r>
              <a:endParaRPr lang="es-MX" dirty="0">
                <a:solidFill>
                  <a:schemeClr val="bg2">
                    <a:lumMod val="10000"/>
                  </a:schemeClr>
                </a:solidFill>
                <a:latin typeface="Myriad Pro Semibold" panose="020B0503030403020204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Legible, professional and consistent fonts.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Avoid unnecessary combinations or saturated text.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Use size and weight for hierarchy</a:t>
              </a:r>
              <a:r>
                <a:rPr lang="es-MX" dirty="0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.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D48FAD5F-D843-C2E8-22CB-0489EF0D90F7}"/>
                </a:ext>
              </a:extLst>
            </p:cNvPr>
            <p:cNvSpPr txBox="1"/>
            <p:nvPr/>
          </p:nvSpPr>
          <p:spPr>
            <a:xfrm>
              <a:off x="7842323" y="3112342"/>
              <a:ext cx="3446999" cy="25853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s-MX" b="1" dirty="0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Visual </a:t>
              </a:r>
              <a:r>
                <a:rPr lang="es-MX" b="1" dirty="0" err="1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hierarchy</a:t>
              </a:r>
              <a:endParaRPr lang="es-MX" dirty="0">
                <a:solidFill>
                  <a:schemeClr val="bg2">
                    <a:lumMod val="10000"/>
                  </a:schemeClr>
                </a:solidFill>
                <a:latin typeface="Myriad Pro Semibold" panose="020B0503030403020204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The most important elements should be seen first.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Use size, position and </a:t>
              </a:r>
              <a:r>
                <a:rPr lang="en-US" dirty="0" err="1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colour</a:t>
              </a:r>
              <a:r>
                <a:rPr lang="en-US" dirty="0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 to highlight.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Application of pre-attention and Gestalt principles</a:t>
              </a:r>
              <a:r>
                <a:rPr lang="es-MX" dirty="0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: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s-MX" dirty="0" err="1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Proximity</a:t>
              </a:r>
              <a:r>
                <a:rPr lang="es-MX" dirty="0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, </a:t>
              </a:r>
              <a:r>
                <a:rPr lang="es-MX" dirty="0" err="1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similarity</a:t>
              </a:r>
              <a:r>
                <a:rPr lang="es-MX" dirty="0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, </a:t>
              </a:r>
              <a:r>
                <a:rPr lang="es-MX" dirty="0" err="1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continuity</a:t>
              </a:r>
              <a:r>
                <a:rPr lang="es-MX" dirty="0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, </a:t>
              </a:r>
              <a:r>
                <a:rPr lang="es-MX" dirty="0" err="1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connection</a:t>
              </a:r>
              <a:r>
                <a:rPr lang="es-MX" dirty="0">
                  <a:solidFill>
                    <a:schemeClr val="bg2">
                      <a:lumMod val="10000"/>
                    </a:schemeClr>
                  </a:solidFill>
                  <a:latin typeface="Myriad Pro Semibold" panose="020B0503030403020204"/>
                </a:rPr>
                <a:t>.</a:t>
              </a:r>
            </a:p>
          </p:txBody>
        </p: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377996C1-2CFF-FEB8-B359-809744B1C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09677" y="1514900"/>
              <a:ext cx="1440000" cy="1440000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079A170E-9CB3-441B-B979-C3EAA70D2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76000" y="1514900"/>
              <a:ext cx="1440000" cy="1440000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3A4F4FCC-E860-97D9-35FA-C61D47AEF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42324" y="1514900"/>
              <a:ext cx="1440000" cy="14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01927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E9566-E717-2C61-52D0-5454C90CC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8F6CCC55-56D4-D143-28CF-E4E950062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748" y="433754"/>
            <a:ext cx="8121524" cy="890953"/>
          </a:xfrm>
        </p:spPr>
        <p:txBody>
          <a:bodyPr>
            <a:normAutofit/>
          </a:bodyPr>
          <a:lstStyle/>
          <a:p>
            <a:r>
              <a:rPr lang="es-MX" sz="3200" dirty="0" err="1"/>
              <a:t>Before</a:t>
            </a:r>
            <a:r>
              <a:rPr lang="es-MX" sz="3200" dirty="0"/>
              <a:t> </a:t>
            </a:r>
            <a:r>
              <a:rPr lang="es-MX" sz="3200" dirty="0" err="1"/>
              <a:t>closing</a:t>
            </a:r>
            <a:br>
              <a:rPr lang="es-MX" sz="3200" dirty="0"/>
            </a:br>
            <a:r>
              <a:rPr lang="en-US" sz="2200" b="0" dirty="0"/>
              <a:t>What is essential in storytelling?</a:t>
            </a:r>
            <a:endParaRPr lang="es-CO" sz="3200" b="0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D3B9A1CB-3DC3-0211-9A14-D514B1CB73EE}"/>
              </a:ext>
            </a:extLst>
          </p:cNvPr>
          <p:cNvGrpSpPr/>
          <p:nvPr/>
        </p:nvGrpSpPr>
        <p:grpSpPr>
          <a:xfrm>
            <a:off x="1463040" y="2255422"/>
            <a:ext cx="9265920" cy="2862322"/>
            <a:chOff x="1463040" y="2255422"/>
            <a:chExt cx="9265920" cy="286232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8F92EA6-3560-F57E-A38F-3CE971DAB1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3040" y="2255422"/>
              <a:ext cx="5418814" cy="28623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kumimoji="0" lang="en-US" altLang="es-CO" sz="18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latin typeface="Myriad Pro Semibold" panose="020B0503030403020204"/>
                </a:rPr>
                <a:t>Telling a story with data means combining narrative structure with visual design.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kumimoji="0" lang="en-US" altLang="es-CO" sz="18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latin typeface="Myriad Pro Semibold" panose="020B0503030403020204"/>
                </a:rPr>
                <a:t>The beginning provides context, the middle reveals patterns, and the end drives decisions.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kumimoji="0" lang="en-US" altLang="es-CO" sz="18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latin typeface="Myriad Pro Semibold" panose="020B0503030403020204"/>
                </a:rPr>
                <a:t>Design is not decorative: it is functional, intentional, and reader-</a:t>
              </a:r>
              <a:r>
                <a:rPr kumimoji="0" lang="en-US" altLang="es-CO" sz="1800" b="0" i="0" u="none" strike="noStrike" cap="none" normalizeH="0" baseline="0" dirty="0" err="1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latin typeface="Myriad Pro Semibold" panose="020B0503030403020204"/>
                </a:rPr>
                <a:t>centred</a:t>
              </a:r>
              <a:r>
                <a:rPr kumimoji="0" lang="en-US" altLang="es-CO" sz="18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latin typeface="Myriad Pro Semibold" panose="020B0503030403020204"/>
                </a:rPr>
                <a:t>.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kumimoji="0" lang="en-US" altLang="es-CO" sz="18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latin typeface="Myriad Pro Semibold" panose="020B0503030403020204"/>
                </a:rPr>
                <a:t>Typography, </a:t>
              </a:r>
              <a:r>
                <a:rPr kumimoji="0" lang="en-US" altLang="es-CO" sz="1800" b="0" i="0" u="none" strike="noStrike" cap="none" normalizeH="0" baseline="0" dirty="0" err="1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latin typeface="Myriad Pro Semibold" panose="020B0503030403020204"/>
                </a:rPr>
                <a:t>colour</a:t>
              </a:r>
              <a:r>
                <a:rPr kumimoji="0" lang="en-US" altLang="es-CO" sz="18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latin typeface="Myriad Pro Semibold" panose="020B0503030403020204"/>
                </a:rPr>
                <a:t>, and hierarchy guide the eye and reinforce the message.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kumimoji="0" lang="en-US" altLang="es-CO" sz="18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latin typeface="Myriad Pro Semibold" panose="020B0503030403020204"/>
                </a:rPr>
                <a:t>Good visualization does more than inform, it connects and transforms.</a:t>
              </a:r>
              <a:endPara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Myriad Pro Semibold" panose="020B0503030403020204"/>
              </a:endParaRPr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C94C7E85-9E52-00E8-C25A-F7E5F9CB3119}"/>
                </a:ext>
              </a:extLst>
            </p:cNvPr>
            <p:cNvSpPr txBox="1"/>
            <p:nvPr/>
          </p:nvSpPr>
          <p:spPr>
            <a:xfrm>
              <a:off x="7149106" y="2655532"/>
              <a:ext cx="3579854" cy="20621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s-CO" sz="3200" b="0" i="0" u="none" strike="noStrike" baseline="0" dirty="0">
                  <a:solidFill>
                    <a:srgbClr val="C0C0C0"/>
                  </a:solidFill>
                  <a:latin typeface="HelveticaLTStd-Roman"/>
                </a:rPr>
                <a:t>756395068473</a:t>
              </a:r>
            </a:p>
            <a:p>
              <a:pPr algn="l"/>
              <a:r>
                <a:rPr lang="es-CO" sz="3200" b="0" i="0" u="none" strike="noStrike" baseline="0" dirty="0">
                  <a:solidFill>
                    <a:srgbClr val="C0C0C0"/>
                  </a:solidFill>
                  <a:latin typeface="HelveticaLTStd-Roman"/>
                </a:rPr>
                <a:t>658663037576</a:t>
              </a:r>
            </a:p>
            <a:p>
              <a:pPr algn="l"/>
              <a:r>
                <a:rPr lang="es-CO" sz="3200" b="0" i="0" u="none" strike="noStrike" baseline="0" dirty="0">
                  <a:solidFill>
                    <a:srgbClr val="C0C0C0"/>
                  </a:solidFill>
                  <a:latin typeface="HelveticaLTStd-Roman"/>
                </a:rPr>
                <a:t>860372658602</a:t>
              </a:r>
            </a:p>
            <a:p>
              <a:pPr algn="l"/>
              <a:r>
                <a:rPr lang="es-CO" sz="3200" b="0" i="0" u="none" strike="noStrike" baseline="0" dirty="0">
                  <a:solidFill>
                    <a:srgbClr val="C0C0C0"/>
                  </a:solidFill>
                  <a:latin typeface="HelveticaLTStd-Roman"/>
                </a:rPr>
                <a:t>846589107830</a:t>
              </a:r>
              <a:endParaRPr lang="es-CO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757379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FDEA2FEB-103C-4F1E-9689-2835C107D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748" y="128954"/>
            <a:ext cx="8121524" cy="1031381"/>
          </a:xfrm>
        </p:spPr>
        <p:txBody>
          <a:bodyPr>
            <a:normAutofit fontScale="90000"/>
          </a:bodyPr>
          <a:lstStyle/>
          <a:p>
            <a:r>
              <a:rPr lang="es-MX" sz="3200" dirty="0" err="1"/>
              <a:t>Transforming</a:t>
            </a:r>
            <a:r>
              <a:rPr lang="es-MX" sz="3200" dirty="0"/>
              <a:t> data </a:t>
            </a:r>
            <a:r>
              <a:rPr lang="es-MX" sz="3200" dirty="0" err="1"/>
              <a:t>into</a:t>
            </a:r>
            <a:r>
              <a:rPr lang="es-MX" sz="3200" dirty="0"/>
              <a:t> visual </a:t>
            </a:r>
            <a:r>
              <a:rPr lang="es-MX" sz="3200" dirty="0" err="1"/>
              <a:t>stories</a:t>
            </a:r>
            <a:br>
              <a:rPr lang="es-MX" sz="3200" dirty="0"/>
            </a:br>
            <a:r>
              <a:rPr lang="en-US" sz="2200" b="0" dirty="0"/>
              <a:t>Techniques for turning raw information into clear and memorable narratives</a:t>
            </a:r>
            <a:endParaRPr lang="es-CO" sz="3200" b="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BD0509C-9652-C42A-8002-2D45E4BA9BAB}"/>
              </a:ext>
            </a:extLst>
          </p:cNvPr>
          <p:cNvSpPr txBox="1"/>
          <p:nvPr/>
        </p:nvSpPr>
        <p:spPr>
          <a:xfrm>
            <a:off x="922054" y="5804904"/>
            <a:ext cx="10471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Myriad Pro Semibold" panose="020B0503030403020204"/>
              </a:rPr>
              <a:t>“</a:t>
            </a:r>
            <a:r>
              <a:rPr lang="en-US" i="1" dirty="0">
                <a:latin typeface="Myriad Pro Semibold" panose="020B0503030403020204"/>
              </a:rPr>
              <a:t>Visual storytelling begins when you stop showing everything and start showing what is important</a:t>
            </a:r>
            <a:r>
              <a:rPr lang="es-MX" i="1" dirty="0">
                <a:latin typeface="Myriad Pro Semibold" panose="020B0503030403020204"/>
              </a:rPr>
              <a:t>.</a:t>
            </a:r>
            <a:r>
              <a:rPr lang="en-US" dirty="0">
                <a:latin typeface="Myriad Pro Semibold" panose="020B0503030403020204"/>
              </a:rPr>
              <a:t>”</a:t>
            </a:r>
          </a:p>
          <a:p>
            <a:pPr algn="r"/>
            <a:r>
              <a:rPr lang="en-GB" dirty="0">
                <a:latin typeface="Myriad Pro Semibold" panose="020B0503030403020204"/>
              </a:rPr>
              <a:t>— Author unknown</a:t>
            </a:r>
            <a:endParaRPr lang="es-CO" dirty="0">
              <a:latin typeface="Myriad Pro Semibold" panose="020B0503030403020204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8B47596A-B6CA-71A8-F326-6BDAB70D410E}"/>
              </a:ext>
            </a:extLst>
          </p:cNvPr>
          <p:cNvGrpSpPr/>
          <p:nvPr/>
        </p:nvGrpSpPr>
        <p:grpSpPr>
          <a:xfrm>
            <a:off x="673660" y="1348263"/>
            <a:ext cx="10719764" cy="4161473"/>
            <a:chOff x="623583" y="1563466"/>
            <a:chExt cx="10719764" cy="416147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57EFCC9-13BA-7C3E-E3EA-FE9DFEB9FC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583" y="1936043"/>
              <a:ext cx="4829092" cy="3416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altLang="es-CO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yriad Pro Semibold" panose="020B0503030403020204"/>
                </a:rPr>
                <a:t>Select relevant data: </a:t>
              </a:r>
              <a:r>
                <a:rPr kumimoji="0" lang="en-US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yriad Pro Semibold" panose="020B0503030403020204"/>
                </a:rPr>
                <a:t>less is more; filter out the essentials.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altLang="es-CO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yriad Pro Semibold" panose="020B0503030403020204"/>
                </a:rPr>
                <a:t>Create a narrative flow:</a:t>
              </a:r>
            </a:p>
            <a:p>
              <a:pPr marL="742950" lvl="1" indent="-28575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kumimoji="0" lang="en-US" altLang="es-CO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yriad Pro Semibold" panose="020B0503030403020204"/>
                </a:rPr>
                <a:t>Context: why and for whom?</a:t>
              </a:r>
            </a:p>
            <a:p>
              <a:pPr marL="742950" lvl="1" indent="-28575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kumimoji="0" lang="en-US" altLang="es-CO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yriad Pro Semibold" panose="020B0503030403020204"/>
                </a:rPr>
                <a:t>Visual narrative: each graphic conveys a message.</a:t>
              </a:r>
            </a:p>
            <a:p>
              <a:pPr marL="742950" lvl="1" indent="-28575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kumimoji="0" lang="en-US" altLang="es-CO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yriad Pro Semibold" panose="020B0503030403020204"/>
                </a:rPr>
                <a:t>Closing: visual impact that reinforces the final message</a:t>
              </a:r>
              <a:r>
                <a:rPr kumimoji="0" lang="en-US" altLang="es-CO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yriad Pro Semibold" panose="020B0503030403020204"/>
                </a:rPr>
                <a:t>.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altLang="es-CO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yriad Pro Semibold" panose="020B0503030403020204"/>
                </a:rPr>
                <a:t>Choose the right type of visual:</a:t>
              </a:r>
            </a:p>
            <a:p>
              <a:pPr marL="742950" lvl="1" indent="-28575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kumimoji="0" lang="en-US" altLang="es-CO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yriad Pro Semibold" panose="020B0503030403020204"/>
                </a:rPr>
                <a:t>Sequential graphs → evolution.</a:t>
              </a:r>
            </a:p>
            <a:p>
              <a:pPr marL="742950" lvl="1" indent="-28575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kumimoji="0" lang="en-US" altLang="es-CO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yriad Pro Semibold" panose="020B0503030403020204"/>
                </a:rPr>
                <a:t>Maps → location.</a:t>
              </a:r>
            </a:p>
            <a:p>
              <a:pPr marL="742950" lvl="1" indent="-28575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kumimoji="0" lang="en-US" altLang="es-CO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yriad Pro Semibold" panose="020B0503030403020204"/>
                </a:rPr>
                <a:t>Diagrams → relationships</a:t>
              </a:r>
              <a:r>
                <a:rPr kumimoji="0" lang="es-CO" altLang="es-CO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yriad Pro Semibold" panose="020B0503030403020204"/>
                </a:rPr>
                <a:t>.</a:t>
              </a:r>
            </a:p>
          </p:txBody>
        </p:sp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C5E4BD27-F57F-0310-12D7-F4C9D6A75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796579" y="1563466"/>
              <a:ext cx="5546768" cy="41614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47682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76F51-5472-1DED-37E6-8236CAADE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0BDD3549-395E-6676-96D6-76AE1EBB9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748" y="633561"/>
            <a:ext cx="8121524" cy="526774"/>
          </a:xfrm>
        </p:spPr>
        <p:txBody>
          <a:bodyPr>
            <a:normAutofit fontScale="90000"/>
          </a:bodyPr>
          <a:lstStyle/>
          <a:p>
            <a:r>
              <a:rPr lang="es-MX" sz="3200" dirty="0"/>
              <a:t>Ver no es lo mismo que entender</a:t>
            </a:r>
            <a:br>
              <a:rPr lang="es-MX" sz="3200" dirty="0"/>
            </a:br>
            <a:r>
              <a:rPr lang="es-MX" sz="2200" b="0" dirty="0"/>
              <a:t>Cómo identificar </a:t>
            </a:r>
            <a:r>
              <a:rPr lang="es-MX" sz="2200" b="0" i="1" dirty="0" err="1"/>
              <a:t>insights</a:t>
            </a:r>
            <a:r>
              <a:rPr lang="es-MX" sz="2200" b="0" dirty="0"/>
              <a:t> y traducirlos en mensajes visuales claros</a:t>
            </a:r>
            <a:endParaRPr lang="es-CO" sz="3200" b="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05CD913-69E7-72EC-752D-BF683F2EDFB0}"/>
              </a:ext>
            </a:extLst>
          </p:cNvPr>
          <p:cNvSpPr txBox="1"/>
          <p:nvPr/>
        </p:nvSpPr>
        <p:spPr>
          <a:xfrm>
            <a:off x="57676" y="6083744"/>
            <a:ext cx="10471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Myriad Pro Semibold" panose="020B0503030403020204"/>
              </a:rPr>
              <a:t>“</a:t>
            </a:r>
            <a:r>
              <a:rPr lang="en-US" i="1" dirty="0">
                <a:latin typeface="Myriad Pro Semibold" panose="020B0503030403020204"/>
              </a:rPr>
              <a:t>An insight is not just an interesting piece of information: it is a clue for making decisions</a:t>
            </a:r>
            <a:r>
              <a:rPr lang="es-MX" i="1" dirty="0">
                <a:latin typeface="Myriad Pro Semibold" panose="020B0503030403020204"/>
              </a:rPr>
              <a:t>.</a:t>
            </a:r>
            <a:r>
              <a:rPr lang="en-US" dirty="0">
                <a:latin typeface="Myriad Pro Semibold" panose="020B0503030403020204"/>
              </a:rPr>
              <a:t>”</a:t>
            </a:r>
          </a:p>
          <a:p>
            <a:pPr algn="r"/>
            <a:r>
              <a:rPr lang="en-GB" dirty="0">
                <a:latin typeface="Myriad Pro Semibold" panose="020B0503030403020204"/>
              </a:rPr>
              <a:t>— Author unknown</a:t>
            </a:r>
            <a:endParaRPr lang="es-CO" dirty="0">
              <a:latin typeface="Myriad Pro Semibold" panose="020B0503030403020204"/>
            </a:endParaRP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B4C4F820-D449-B77B-CE62-E21196095C88}"/>
              </a:ext>
            </a:extLst>
          </p:cNvPr>
          <p:cNvGrpSpPr/>
          <p:nvPr/>
        </p:nvGrpSpPr>
        <p:grpSpPr>
          <a:xfrm>
            <a:off x="1056640" y="1331147"/>
            <a:ext cx="10078720" cy="4752597"/>
            <a:chOff x="742459" y="1668523"/>
            <a:chExt cx="10078720" cy="4752597"/>
          </a:xfrm>
        </p:grpSpPr>
        <p:sp>
          <p:nvSpPr>
            <p:cNvPr id="5" name="Rectangle 1">
              <a:extLst>
                <a:ext uri="{FF2B5EF4-FFF2-40B4-BE49-F238E27FC236}">
                  <a16:creationId xmlns:a16="http://schemas.microsoft.com/office/drawing/2014/main" id="{165FB535-71BA-B357-7A61-B16DC4D82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459" y="1750625"/>
              <a:ext cx="5415280" cy="4247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R="0" lvl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s-CO" altLang="es-CO" sz="1800" b="1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Identify</a:t>
              </a:r>
              <a:r>
                <a:rPr kumimoji="0" lang="es-CO" altLang="es-CO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s-CO" altLang="es-CO" sz="1800" b="1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insights</a:t>
              </a:r>
              <a:endPara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Detect</a:t>
              </a:r>
              <a:r>
                <a:rPr kumimoji="0" lang="es-CO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patterns</a:t>
              </a:r>
              <a:r>
                <a:rPr kumimoji="0" lang="es-CO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, </a:t>
              </a: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trends</a:t>
              </a:r>
              <a:r>
                <a:rPr kumimoji="0" lang="es-CO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, and </a:t>
              </a: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anomalies</a:t>
              </a:r>
              <a:r>
                <a:rPr kumimoji="0" lang="es-CO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.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s-CO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Ask: </a:t>
              </a: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What</a:t>
              </a:r>
              <a:r>
                <a:rPr kumimoji="0" lang="es-CO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would</a:t>
              </a:r>
              <a:r>
                <a:rPr kumimoji="0" lang="es-CO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be </a:t>
              </a: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useful</a:t>
              </a:r>
              <a:r>
                <a:rPr kumimoji="0" lang="es-CO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, new </a:t>
              </a: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or</a:t>
              </a:r>
              <a:r>
                <a:rPr kumimoji="0" lang="es-CO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surprising</a:t>
              </a:r>
              <a:r>
                <a:rPr kumimoji="0" lang="es-CO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to</a:t>
              </a:r>
              <a:r>
                <a:rPr kumimoji="0" lang="es-CO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my</a:t>
              </a:r>
              <a:r>
                <a:rPr kumimoji="0" lang="es-CO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audience</a:t>
              </a:r>
              <a:r>
                <a:rPr kumimoji="0" lang="es-CO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?</a:t>
              </a:r>
            </a:p>
            <a:p>
              <a:pPr marR="0" lvl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s-CO" altLang="es-CO" sz="1800" b="1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Translate</a:t>
              </a:r>
              <a:r>
                <a:rPr kumimoji="0" lang="es-CO" altLang="es-CO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s-CO" altLang="es-CO" sz="1800" b="1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insights</a:t>
              </a:r>
              <a:r>
                <a:rPr kumimoji="0" lang="es-CO" altLang="es-CO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s-CO" altLang="es-CO" sz="1800" b="1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into</a:t>
              </a:r>
              <a:r>
                <a:rPr kumimoji="0" lang="es-CO" altLang="es-CO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s-CO" altLang="es-CO" sz="1800" b="1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appropriate</a:t>
              </a:r>
              <a:r>
                <a:rPr kumimoji="0" lang="es-CO" altLang="es-CO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s-CO" altLang="es-CO" sz="1800" b="1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visualisations</a:t>
              </a:r>
              <a:endPara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Comparisons</a:t>
              </a:r>
              <a:r>
                <a:rPr kumimoji="0" lang="es-CO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→ </a:t>
              </a: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bars</a:t>
              </a:r>
              <a:endPara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Evolution</a:t>
              </a:r>
              <a:r>
                <a:rPr kumimoji="0" lang="es-CO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→ </a:t>
              </a: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lines</a:t>
              </a:r>
              <a:endPara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Relationship</a:t>
              </a:r>
              <a:r>
                <a:rPr kumimoji="0" lang="es-CO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between</a:t>
              </a:r>
              <a:r>
                <a:rPr kumimoji="0" lang="es-CO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variables → dispersión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Spatial</a:t>
              </a:r>
              <a:r>
                <a:rPr kumimoji="0" lang="es-CO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distribution</a:t>
              </a:r>
              <a:r>
                <a:rPr kumimoji="0" lang="es-CO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→ </a:t>
              </a: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maps</a:t>
              </a:r>
              <a:endPara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R="0" lvl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s-CO" altLang="es-CO" sz="1800" b="1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Integrate</a:t>
              </a:r>
              <a:r>
                <a:rPr kumimoji="0" lang="es-CO" altLang="es-CO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s-CO" altLang="es-CO" sz="1800" b="1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insights</a:t>
              </a:r>
              <a:r>
                <a:rPr kumimoji="0" lang="es-CO" altLang="es-CO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s-CO" altLang="es-CO" sz="1800" b="1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into</a:t>
              </a:r>
              <a:r>
                <a:rPr kumimoji="0" lang="es-CO" altLang="es-CO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s-CO" altLang="es-CO" sz="1800" b="1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storytelling</a:t>
              </a:r>
              <a:endPara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Connect</a:t>
              </a:r>
              <a:r>
                <a:rPr kumimoji="0" lang="es-CO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each</a:t>
              </a:r>
              <a:r>
                <a:rPr kumimoji="0" lang="es-CO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visual </a:t>
              </a: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with</a:t>
              </a:r>
              <a:r>
                <a:rPr kumimoji="0" lang="es-CO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a </a:t>
              </a: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clear</a:t>
              </a:r>
              <a:r>
                <a:rPr kumimoji="0" lang="es-CO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message</a:t>
              </a:r>
              <a:r>
                <a:rPr kumimoji="0" lang="es-CO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.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Create</a:t>
              </a:r>
              <a:r>
                <a:rPr kumimoji="0" lang="es-CO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fluidity</a:t>
              </a:r>
              <a:r>
                <a:rPr kumimoji="0" lang="es-CO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between</a:t>
              </a:r>
              <a:r>
                <a:rPr kumimoji="0" lang="es-CO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graphics</a:t>
              </a:r>
              <a:r>
                <a:rPr kumimoji="0" lang="es-CO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(visual </a:t>
              </a:r>
              <a:r>
                <a:rPr kumimoji="0" lang="es-CO" altLang="es-CO" sz="1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transitions</a:t>
              </a:r>
              <a:r>
                <a:rPr kumimoji="0" lang="es-CO" altLang="es-CO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).</a:t>
              </a:r>
              <a:endParaRPr kumimoji="0" lang="es-CO" altLang="es-CO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endPara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E6AFE78B-28C4-529A-DC17-BA14C60E86C2}"/>
                </a:ext>
              </a:extLst>
            </p:cNvPr>
            <p:cNvGrpSpPr/>
            <p:nvPr/>
          </p:nvGrpSpPr>
          <p:grpSpPr>
            <a:xfrm>
              <a:off x="6584459" y="1668523"/>
              <a:ext cx="4236720" cy="4752597"/>
              <a:chOff x="6868160" y="1668523"/>
              <a:chExt cx="4236720" cy="4752597"/>
            </a:xfrm>
          </p:grpSpPr>
          <p:pic>
            <p:nvPicPr>
              <p:cNvPr id="8" name="Imagen 7">
                <a:extLst>
                  <a:ext uri="{FF2B5EF4-FFF2-40B4-BE49-F238E27FC236}">
                    <a16:creationId xmlns:a16="http://schemas.microsoft.com/office/drawing/2014/main" id="{DD684D25-77FF-CDDE-C485-1DB256EA1A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4394" t="16024" r="8070" b="15296"/>
              <a:stretch/>
            </p:blipFill>
            <p:spPr>
              <a:xfrm>
                <a:off x="6868160" y="2745741"/>
                <a:ext cx="4236720" cy="3675379"/>
              </a:xfrm>
              <a:prstGeom prst="rect">
                <a:avLst/>
              </a:prstGeom>
            </p:spPr>
          </p:pic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5C593E1D-F7F8-7A2A-8F6F-5B3F682CA669}"/>
                  </a:ext>
                </a:extLst>
              </p:cNvPr>
              <p:cNvSpPr txBox="1"/>
              <p:nvPr/>
            </p:nvSpPr>
            <p:spPr>
              <a:xfrm>
                <a:off x="6868160" y="1668523"/>
                <a:ext cx="423672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Myriad Pro Semibold" panose="020B0503030403020204"/>
                  </a:rPr>
                  <a:t>The nuclear commitment in Europe is not uniform</a:t>
                </a:r>
                <a:endParaRPr lang="es-CO" b="1" dirty="0">
                  <a:latin typeface="Myriad Pro Semibold" panose="020B0503030403020204"/>
                </a:endParaRPr>
              </a:p>
            </p:txBody>
          </p:sp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104F3409-1BF0-AC3E-D974-85F48E8F9096}"/>
                  </a:ext>
                </a:extLst>
              </p:cNvPr>
              <p:cNvSpPr txBox="1"/>
              <p:nvPr/>
            </p:nvSpPr>
            <p:spPr>
              <a:xfrm>
                <a:off x="6868160" y="2314854"/>
                <a:ext cx="423672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dirty="0">
                    <a:solidFill>
                      <a:schemeClr val="bg2">
                        <a:lumMod val="75000"/>
                      </a:schemeClr>
                    </a:solidFill>
                    <a:latin typeface="Myriad Pro Semibold" panose="020B0503030403020204"/>
                  </a:rPr>
                  <a:t>France is the only European country where nuclear energy accounts for more than 30% of primary consumption</a:t>
                </a:r>
                <a:endParaRPr lang="es-CO" sz="1100" dirty="0">
                  <a:solidFill>
                    <a:schemeClr val="bg2">
                      <a:lumMod val="75000"/>
                    </a:schemeClr>
                  </a:solidFill>
                  <a:latin typeface="Myriad Pro Semibold" panose="020B0503030403020204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241667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C915-ECDC-B2FD-DF0F-5568A69D0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3301C3BC-ADE7-BF0C-55F0-397DE5D86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748" y="172948"/>
            <a:ext cx="8121524" cy="987387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Seeing is not the same as understanding</a:t>
            </a:r>
            <a:br>
              <a:rPr lang="es-MX" sz="3200" dirty="0"/>
            </a:br>
            <a:r>
              <a:rPr lang="en-US" sz="2200" b="0" dirty="0"/>
              <a:t>How to identify insights and translate them into clear visual messages</a:t>
            </a:r>
            <a:endParaRPr lang="es-CO" sz="3200" b="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4C3BA84-3181-01A7-56EF-E572ACD0CD09}"/>
              </a:ext>
            </a:extLst>
          </p:cNvPr>
          <p:cNvSpPr txBox="1"/>
          <p:nvPr/>
        </p:nvSpPr>
        <p:spPr>
          <a:xfrm>
            <a:off x="922054" y="5912990"/>
            <a:ext cx="10471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Myriad Pro Semibold" panose="020B0503030403020204"/>
              </a:rPr>
              <a:t>“</a:t>
            </a:r>
            <a:r>
              <a:rPr lang="en-US" i="1" dirty="0">
                <a:latin typeface="Myriad Pro Semibold" panose="020B0503030403020204"/>
              </a:rPr>
              <a:t>Good visual storytelling does not come from software, but from the thought behind each choice</a:t>
            </a:r>
            <a:r>
              <a:rPr lang="es-MX" i="1" dirty="0">
                <a:latin typeface="Myriad Pro Semibold" panose="020B0503030403020204"/>
              </a:rPr>
              <a:t>.</a:t>
            </a:r>
            <a:r>
              <a:rPr lang="en-US" dirty="0">
                <a:latin typeface="Myriad Pro Semibold" panose="020B0503030403020204"/>
              </a:rPr>
              <a:t>”</a:t>
            </a:r>
          </a:p>
          <a:p>
            <a:pPr algn="r"/>
            <a:r>
              <a:rPr lang="en-GB" dirty="0">
                <a:latin typeface="Myriad Pro Semibold" panose="020B0503030403020204"/>
              </a:rPr>
              <a:t>— Author unknown</a:t>
            </a:r>
            <a:endParaRPr lang="es-CO" dirty="0">
              <a:latin typeface="Myriad Pro Semibold" panose="020B0503030403020204"/>
            </a:endParaRP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3048A63D-86B5-D6FE-68A5-1AB58821DA57}"/>
              </a:ext>
            </a:extLst>
          </p:cNvPr>
          <p:cNvGrpSpPr/>
          <p:nvPr/>
        </p:nvGrpSpPr>
        <p:grpSpPr>
          <a:xfrm>
            <a:off x="856401" y="1376662"/>
            <a:ext cx="10479199" cy="4560657"/>
            <a:chOff x="850934" y="1538245"/>
            <a:chExt cx="10479199" cy="4560657"/>
          </a:xfrm>
        </p:grpSpPr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3DE033F6-CFEC-0557-61AE-8F325EB53237}"/>
                </a:ext>
              </a:extLst>
            </p:cNvPr>
            <p:cNvSpPr txBox="1"/>
            <p:nvPr/>
          </p:nvSpPr>
          <p:spPr>
            <a:xfrm>
              <a:off x="850934" y="1574587"/>
              <a:ext cx="5245066" cy="45243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 err="1">
                  <a:latin typeface="Myriad Pro Semibold" panose="020B0503030403020204"/>
                </a:rPr>
                <a:t>Select</a:t>
              </a:r>
              <a:r>
                <a:rPr lang="es-CO" b="1" dirty="0">
                  <a:latin typeface="Myriad Pro Semibold" panose="020B0503030403020204"/>
                </a:rPr>
                <a:t> </a:t>
              </a:r>
              <a:r>
                <a:rPr lang="es-CO" b="1" dirty="0" err="1">
                  <a:latin typeface="Myriad Pro Semibold" panose="020B0503030403020204"/>
                </a:rPr>
                <a:t>key</a:t>
              </a:r>
              <a:r>
                <a:rPr lang="es-CO" b="1" dirty="0">
                  <a:latin typeface="Myriad Pro Semibold" panose="020B0503030403020204"/>
                </a:rPr>
                <a:t> data</a:t>
              </a:r>
              <a:endParaRPr lang="es-CO" dirty="0">
                <a:latin typeface="Myriad Pro Semibold" panose="020B0503030403020204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Myriad Pro Semibold" panose="020B0503030403020204"/>
                </a:rPr>
                <a:t>What answers the guiding question or topic?</a:t>
              </a:r>
              <a:endParaRPr lang="es-CO" dirty="0">
                <a:latin typeface="Myriad Pro Semibold" panose="020B0503030403020204"/>
              </a:endParaRPr>
            </a:p>
            <a:p>
              <a:r>
                <a:rPr lang="es-CO" b="1" dirty="0" err="1">
                  <a:latin typeface="Myriad Pro Semibold" panose="020B0503030403020204"/>
                </a:rPr>
                <a:t>Design</a:t>
              </a:r>
              <a:r>
                <a:rPr lang="es-CO" b="1" dirty="0">
                  <a:latin typeface="Myriad Pro Semibold" panose="020B0503030403020204"/>
                </a:rPr>
                <a:t> </a:t>
              </a:r>
              <a:r>
                <a:rPr lang="es-CO" b="1" dirty="0" err="1">
                  <a:latin typeface="Myriad Pro Semibold" panose="020B0503030403020204"/>
                </a:rPr>
                <a:t>the</a:t>
              </a:r>
              <a:r>
                <a:rPr lang="es-CO" b="1" dirty="0">
                  <a:latin typeface="Myriad Pro Semibold" panose="020B0503030403020204"/>
                </a:rPr>
                <a:t> storyboard</a:t>
              </a:r>
              <a:endParaRPr lang="es-CO" dirty="0">
                <a:latin typeface="Myriad Pro Semibold" panose="020B0503030403020204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Myriad Pro Semibold" panose="020B0503030403020204"/>
                </a:rPr>
                <a:t>Quick sketch: order, type of visual, message for each step</a:t>
              </a:r>
              <a:r>
                <a:rPr lang="es-CO" dirty="0">
                  <a:latin typeface="Myriad Pro Semibold" panose="020B0503030403020204"/>
                </a:rPr>
                <a:t>.</a:t>
              </a:r>
            </a:p>
            <a:p>
              <a:r>
                <a:rPr lang="es-CO" b="1" dirty="0" err="1">
                  <a:latin typeface="Myriad Pro Semibold" panose="020B0503030403020204"/>
                </a:rPr>
                <a:t>Apply</a:t>
              </a:r>
              <a:r>
                <a:rPr lang="es-CO" b="1" dirty="0">
                  <a:latin typeface="Myriad Pro Semibold" panose="020B0503030403020204"/>
                </a:rPr>
                <a:t> </a:t>
              </a:r>
              <a:r>
                <a:rPr lang="es-CO" b="1" dirty="0" err="1">
                  <a:latin typeface="Myriad Pro Semibold" panose="020B0503030403020204"/>
                </a:rPr>
                <a:t>design</a:t>
              </a:r>
              <a:r>
                <a:rPr lang="es-CO" b="1" dirty="0">
                  <a:latin typeface="Myriad Pro Semibold" panose="020B0503030403020204"/>
                </a:rPr>
                <a:t> </a:t>
              </a:r>
              <a:r>
                <a:rPr lang="es-CO" b="1" dirty="0" err="1">
                  <a:latin typeface="Myriad Pro Semibold" panose="020B0503030403020204"/>
                </a:rPr>
                <a:t>principles</a:t>
              </a:r>
              <a:endParaRPr lang="es-CO" dirty="0">
                <a:latin typeface="Myriad Pro Semibold" panose="020B0503030403020204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Myriad Pro Semibold" panose="020B0503030403020204"/>
                </a:rPr>
                <a:t>Clarity (eliminate noise), </a:t>
              </a:r>
              <a:r>
                <a:rPr lang="en-US" dirty="0" err="1">
                  <a:latin typeface="Myriad Pro Semibold" panose="020B0503030403020204"/>
                </a:rPr>
                <a:t>colour</a:t>
              </a:r>
              <a:r>
                <a:rPr lang="en-US" dirty="0">
                  <a:latin typeface="Myriad Pro Semibold" panose="020B0503030403020204"/>
                </a:rPr>
                <a:t> (focus), typography (legibility), hierarchy (visual emphasis)</a:t>
              </a:r>
              <a:r>
                <a:rPr lang="es-CO" dirty="0">
                  <a:latin typeface="Myriad Pro Semibold" panose="020B0503030403020204"/>
                </a:rPr>
                <a:t>.</a:t>
              </a:r>
            </a:p>
            <a:p>
              <a:pPr>
                <a:buNone/>
              </a:pPr>
              <a:r>
                <a:rPr lang="es-CO" b="1" dirty="0" err="1">
                  <a:latin typeface="Myriad Pro Semibold" panose="020B0503030403020204"/>
                </a:rPr>
                <a:t>Possible</a:t>
              </a:r>
              <a:r>
                <a:rPr lang="es-CO" b="1" dirty="0">
                  <a:latin typeface="Myriad Pro Semibold" panose="020B0503030403020204"/>
                </a:rPr>
                <a:t> </a:t>
              </a:r>
              <a:r>
                <a:rPr lang="es-CO" b="1" dirty="0" err="1">
                  <a:latin typeface="Myriad Pro Semibold" panose="020B0503030403020204"/>
                </a:rPr>
                <a:t>tools</a:t>
              </a:r>
              <a:endParaRPr lang="es-CO" dirty="0">
                <a:latin typeface="Myriad Pro Semibold" panose="020B0503030403020204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s-CO" dirty="0" err="1">
                  <a:latin typeface="Myriad Pro Semibold" panose="020B0503030403020204"/>
                </a:rPr>
                <a:t>Power</a:t>
              </a:r>
              <a:r>
                <a:rPr lang="es-CO" dirty="0">
                  <a:latin typeface="Myriad Pro Semibold" panose="020B0503030403020204"/>
                </a:rPr>
                <a:t> BI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s-CO" dirty="0">
                  <a:latin typeface="Myriad Pro Semibold" panose="020B0503030403020204"/>
                </a:rPr>
                <a:t>R (ggplot2, </a:t>
              </a:r>
              <a:r>
                <a:rPr lang="es-CO" dirty="0" err="1">
                  <a:latin typeface="Myriad Pro Semibold" panose="020B0503030403020204"/>
                </a:rPr>
                <a:t>plotly</a:t>
              </a:r>
              <a:r>
                <a:rPr lang="es-CO" dirty="0">
                  <a:latin typeface="Myriad Pro Semibold" panose="020B0503030403020204"/>
                </a:rPr>
                <a:t>)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s-CO" dirty="0">
                  <a:latin typeface="Myriad Pro Semibold" panose="020B0503030403020204"/>
                </a:rPr>
                <a:t>Python (</a:t>
              </a:r>
              <a:r>
                <a:rPr lang="es-CO" dirty="0" err="1">
                  <a:latin typeface="Myriad Pro Semibold" panose="020B0503030403020204"/>
                </a:rPr>
                <a:t>matplotlib</a:t>
              </a:r>
              <a:r>
                <a:rPr lang="es-CO" dirty="0">
                  <a:latin typeface="Myriad Pro Semibold" panose="020B0503030403020204"/>
                </a:rPr>
                <a:t>, </a:t>
              </a:r>
              <a:r>
                <a:rPr lang="es-CO" dirty="0" err="1">
                  <a:latin typeface="Myriad Pro Semibold" panose="020B0503030403020204"/>
                </a:rPr>
                <a:t>seaborn</a:t>
              </a:r>
              <a:r>
                <a:rPr lang="es-CO" dirty="0">
                  <a:latin typeface="Myriad Pro Semibold" panose="020B0503030403020204"/>
                </a:rPr>
                <a:t>)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s-CO" dirty="0" err="1">
                  <a:latin typeface="Myriad Pro Semibold" panose="020B0503030403020204"/>
                </a:rPr>
                <a:t>Canva</a:t>
              </a:r>
              <a:r>
                <a:rPr lang="es-CO" dirty="0">
                  <a:latin typeface="Myriad Pro Semibold" panose="020B0503030403020204"/>
                </a:rPr>
                <a:t> </a:t>
              </a:r>
              <a:r>
                <a:rPr lang="es-CO" dirty="0" err="1">
                  <a:latin typeface="Myriad Pro Semibold" panose="020B0503030403020204"/>
                </a:rPr>
                <a:t>or</a:t>
              </a:r>
              <a:r>
                <a:rPr lang="es-CO" dirty="0">
                  <a:latin typeface="Myriad Pro Semibold" panose="020B0503030403020204"/>
                </a:rPr>
                <a:t> </a:t>
              </a:r>
              <a:r>
                <a:rPr lang="es-CO" dirty="0" err="1">
                  <a:latin typeface="Myriad Pro Semibold" panose="020B0503030403020204"/>
                </a:rPr>
                <a:t>Figma</a:t>
              </a:r>
              <a:r>
                <a:rPr lang="es-CO" dirty="0">
                  <a:latin typeface="Myriad Pro Semibold" panose="020B0503030403020204"/>
                </a:rPr>
                <a:t> (</a:t>
              </a:r>
              <a:r>
                <a:rPr lang="es-CO" dirty="0" err="1">
                  <a:latin typeface="Myriad Pro Semibold" panose="020B0503030403020204"/>
                </a:rPr>
                <a:t>for</a:t>
              </a:r>
              <a:r>
                <a:rPr lang="es-CO" dirty="0">
                  <a:latin typeface="Myriad Pro Semibold" panose="020B0503030403020204"/>
                </a:rPr>
                <a:t> </a:t>
              </a:r>
              <a:r>
                <a:rPr lang="es-CO" dirty="0" err="1">
                  <a:latin typeface="Myriad Pro Semibold" panose="020B0503030403020204"/>
                </a:rPr>
                <a:t>optional</a:t>
              </a:r>
              <a:r>
                <a:rPr lang="es-CO" dirty="0">
                  <a:latin typeface="Myriad Pro Semibold" panose="020B0503030403020204"/>
                </a:rPr>
                <a:t> final </a:t>
              </a:r>
              <a:r>
                <a:rPr lang="es-CO" dirty="0" err="1">
                  <a:latin typeface="Myriad Pro Semibold" panose="020B0503030403020204"/>
                </a:rPr>
                <a:t>aesthetics</a:t>
              </a:r>
              <a:r>
                <a:rPr lang="es-CO" dirty="0">
                  <a:latin typeface="Myriad Pro Semibold" panose="020B0503030403020204"/>
                </a:rPr>
                <a:t>)</a:t>
              </a:r>
            </a:p>
          </p:txBody>
        </p:sp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20131214-C09E-1DFF-9886-8061B7CF4C4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263647" y="1538245"/>
              <a:ext cx="5066486" cy="4320000"/>
              <a:chOff x="6722982" y="1569151"/>
              <a:chExt cx="4618084" cy="3937665"/>
            </a:xfrm>
          </p:grpSpPr>
          <p:grpSp>
            <p:nvGrpSpPr>
              <p:cNvPr id="9" name="Grupo 8">
                <a:extLst>
                  <a:ext uri="{FF2B5EF4-FFF2-40B4-BE49-F238E27FC236}">
                    <a16:creationId xmlns:a16="http://schemas.microsoft.com/office/drawing/2014/main" id="{079A251A-71A4-868F-5A6F-26FC0F4BDED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722982" y="4606816"/>
                <a:ext cx="4618084" cy="900000"/>
                <a:chOff x="6058493" y="4352056"/>
                <a:chExt cx="5541699" cy="1080000"/>
              </a:xfrm>
            </p:grpSpPr>
            <p:pic>
              <p:nvPicPr>
                <p:cNvPr id="3074" name="Picture 2">
                  <a:extLst>
                    <a:ext uri="{FF2B5EF4-FFF2-40B4-BE49-F238E27FC236}">
                      <a16:creationId xmlns:a16="http://schemas.microsoft.com/office/drawing/2014/main" id="{74F65EF0-FFD2-68A4-80CD-F100273F2D7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058493" y="4352056"/>
                  <a:ext cx="1080000" cy="1080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076" name="Picture 4">
                  <a:extLst>
                    <a:ext uri="{FF2B5EF4-FFF2-40B4-BE49-F238E27FC236}">
                      <a16:creationId xmlns:a16="http://schemas.microsoft.com/office/drawing/2014/main" id="{AD781335-01F9-CE16-02A6-30464FDE331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208755" y="4352056"/>
                  <a:ext cx="1393500" cy="1080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" name="Imagen 6">
                  <a:extLst>
                    <a:ext uri="{FF2B5EF4-FFF2-40B4-BE49-F238E27FC236}">
                      <a16:creationId xmlns:a16="http://schemas.microsoft.com/office/drawing/2014/main" id="{E8130162-5C4F-E04D-1A64-C86D3B38DE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672517" y="4352056"/>
                  <a:ext cx="1084337" cy="1080000"/>
                </a:xfrm>
                <a:prstGeom prst="rect">
                  <a:avLst/>
                </a:prstGeom>
              </p:spPr>
            </p:pic>
            <p:pic>
              <p:nvPicPr>
                <p:cNvPr id="3080" name="Picture 8" descr="canva transparente icono 48759334 PNG">
                  <a:extLst>
                    <a:ext uri="{FF2B5EF4-FFF2-40B4-BE49-F238E27FC236}">
                      <a16:creationId xmlns:a16="http://schemas.microsoft.com/office/drawing/2014/main" id="{FA7E63A2-73E5-0324-F437-BAC07E414B2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3012" t="7374" r="16932" b="15663"/>
                <a:stretch/>
              </p:blipFill>
              <p:spPr bwMode="auto">
                <a:xfrm>
                  <a:off x="9827116" y="4352056"/>
                  <a:ext cx="983063" cy="1080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082" name="Picture 10">
                  <a:extLst>
                    <a:ext uri="{FF2B5EF4-FFF2-40B4-BE49-F238E27FC236}">
                      <a16:creationId xmlns:a16="http://schemas.microsoft.com/office/drawing/2014/main" id="{D2863BBE-8328-96C8-4C10-7891C5A998B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880442" y="4352056"/>
                  <a:ext cx="719750" cy="1080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16" name="Imagen 15" descr="Interfaz de usuario gráfica&#10;&#10;El contenido generado por IA puede ser incorrecto.">
                <a:extLst>
                  <a:ext uri="{FF2B5EF4-FFF2-40B4-BE49-F238E27FC236}">
                    <a16:creationId xmlns:a16="http://schemas.microsoft.com/office/drawing/2014/main" id="{B2245B7E-4FA7-385D-99E1-86CC2E79AB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40094" y="1569151"/>
                <a:ext cx="3783861" cy="289300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967299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B2A0D-96D5-BCC8-5779-200A33EE5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E308CD7-96A9-9CB0-545F-6AAD6FD0E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4200" y="183234"/>
            <a:ext cx="8121524" cy="1207476"/>
          </a:xfrm>
        </p:spPr>
        <p:txBody>
          <a:bodyPr>
            <a:normAutofit/>
          </a:bodyPr>
          <a:lstStyle/>
          <a:p>
            <a:r>
              <a:rPr lang="es-MX" sz="3200" dirty="0" err="1"/>
              <a:t>To</a:t>
            </a:r>
            <a:r>
              <a:rPr lang="es-MX" sz="3200" dirty="0"/>
              <a:t> </a:t>
            </a:r>
            <a:r>
              <a:rPr lang="es-MX" sz="3200" dirty="0" err="1"/>
              <a:t>close</a:t>
            </a:r>
            <a:br>
              <a:rPr lang="es-MX" sz="3200" dirty="0"/>
            </a:br>
            <a:r>
              <a:rPr lang="en-US" sz="2200" b="0" dirty="0"/>
              <a:t>Connecting data, narrative and design: the challenge of visually communicating what matters</a:t>
            </a:r>
            <a:endParaRPr lang="es-CO" sz="3200" b="0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50C6B0B5-055C-812F-4D19-D993A48CD718}"/>
              </a:ext>
            </a:extLst>
          </p:cNvPr>
          <p:cNvGrpSpPr/>
          <p:nvPr/>
        </p:nvGrpSpPr>
        <p:grpSpPr>
          <a:xfrm>
            <a:off x="1220280" y="1866343"/>
            <a:ext cx="9751440" cy="3785574"/>
            <a:chOff x="1671158" y="1866343"/>
            <a:chExt cx="9751440" cy="378557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C11607B-B5FE-9D7C-D22D-47CF970DB0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1158" y="1912472"/>
              <a:ext cx="4414682" cy="3693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kumimoji="0" lang="en-US" altLang="es-CO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yriad Pro Semibold" panose="020B0503030403020204"/>
                </a:rPr>
                <a:t>Transforming data into stories requires filtering, structuring and designing with intention.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kumimoji="0" lang="en-US" altLang="es-CO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yriad Pro Semibold" panose="020B0503030403020204"/>
                </a:rPr>
                <a:t>Insight guides the narrative, not the graphic.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kumimoji="0" lang="en-US" altLang="es-CO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yriad Pro Semibold" panose="020B0503030403020204"/>
                </a:rPr>
                <a:t>Each </a:t>
              </a:r>
              <a:r>
                <a:rPr kumimoji="0" lang="en-US" altLang="es-CO" sz="18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Myriad Pro Semibold" panose="020B0503030403020204"/>
                </a:rPr>
                <a:t>visualisation</a:t>
              </a:r>
              <a:r>
                <a:rPr kumimoji="0" lang="en-US" altLang="es-CO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yriad Pro Semibold" panose="020B0503030403020204"/>
                </a:rPr>
                <a:t> must have a clear purpose and a logical connection to the message.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kumimoji="0" lang="en-US" altLang="es-CO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yriad Pro Semibold" panose="020B0503030403020204"/>
                </a:rPr>
                <a:t>Aesthetics are important, but they do not replace clarity.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kumimoji="0" lang="en-US" altLang="es-CO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yriad Pro Semibold" panose="020B0503030403020204"/>
                </a:rPr>
                <a:t>Good design does not impress, it informs, connects and guides decisions</a:t>
              </a:r>
              <a:r>
                <a:rPr kumimoji="0" lang="es-CO" altLang="es-CO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yriad Pro Semibold" panose="020B0503030403020204"/>
                </a:rPr>
                <a:t>.</a:t>
              </a:r>
            </a:p>
          </p:txBody>
        </p:sp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93DDC4E1-CEFD-6BC2-C0E2-1BC8E0F71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28079" y="1866343"/>
              <a:ext cx="5194519" cy="37855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61128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1C17C-468C-0C07-44C1-AA5250475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0E99D1-B4BB-6CB5-28D4-CE0C591EC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748" y="257908"/>
            <a:ext cx="8023869" cy="902427"/>
          </a:xfrm>
        </p:spPr>
        <p:txBody>
          <a:bodyPr>
            <a:normAutofit/>
          </a:bodyPr>
          <a:lstStyle/>
          <a:p>
            <a:r>
              <a:rPr lang="en-US" sz="3200" noProof="0" dirty="0"/>
              <a:t>Where can I learn more?</a:t>
            </a:r>
            <a:br>
              <a:rPr lang="en-GB" sz="3200" noProof="0" dirty="0"/>
            </a:br>
            <a:r>
              <a:rPr lang="en-US" sz="2200" b="0" noProof="0" dirty="0"/>
              <a:t>Recommended resources for further exploration</a:t>
            </a:r>
            <a:endParaRPr lang="en-GB" sz="2200" b="0" i="1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4B6845C-B0AB-A593-4AC3-6E3C29509879}"/>
              </a:ext>
            </a:extLst>
          </p:cNvPr>
          <p:cNvSpPr txBox="1"/>
          <p:nvPr/>
        </p:nvSpPr>
        <p:spPr>
          <a:xfrm>
            <a:off x="2059619" y="5826543"/>
            <a:ext cx="9576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noProof="0" dirty="0">
                <a:latin typeface="Myriad Pro Semibold" panose="020B0503030403020204"/>
              </a:rPr>
              <a:t>“</a:t>
            </a:r>
            <a:r>
              <a:rPr lang="en-US" i="1" noProof="0" dirty="0" err="1">
                <a:latin typeface="Myriad Pro Semibold" panose="020B0503030403020204"/>
              </a:rPr>
              <a:t>Visualising</a:t>
            </a:r>
            <a:r>
              <a:rPr lang="en-US" i="1" noProof="0" dirty="0">
                <a:latin typeface="Myriad Pro Semibold" panose="020B0503030403020204"/>
              </a:rPr>
              <a:t> data well is not a technical skill: it is a critical and ethical practice</a:t>
            </a:r>
            <a:r>
              <a:rPr lang="en-GB" i="1" noProof="0" dirty="0">
                <a:latin typeface="Myriad Pro Semibold" panose="020B0503030403020204"/>
              </a:rPr>
              <a:t>.</a:t>
            </a:r>
            <a:r>
              <a:rPr lang="en-GB" noProof="0" dirty="0">
                <a:latin typeface="Myriad Pro Semibold" panose="020B0503030403020204"/>
              </a:rPr>
              <a:t>”</a:t>
            </a:r>
          </a:p>
          <a:p>
            <a:pPr algn="r"/>
            <a:r>
              <a:rPr lang="en-GB" noProof="0" dirty="0">
                <a:latin typeface="Myriad Pro Semibold" panose="020B0503030403020204"/>
              </a:rPr>
              <a:t>— Author unknown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6BE2D467-698A-52C7-E9B2-19EE95D9E94E}"/>
              </a:ext>
            </a:extLst>
          </p:cNvPr>
          <p:cNvGrpSpPr/>
          <p:nvPr/>
        </p:nvGrpSpPr>
        <p:grpSpPr>
          <a:xfrm>
            <a:off x="890186" y="1982074"/>
            <a:ext cx="10746262" cy="3240000"/>
            <a:chOff x="415906" y="1384915"/>
            <a:chExt cx="10746262" cy="3240000"/>
          </a:xfrm>
        </p:grpSpPr>
        <p:pic>
          <p:nvPicPr>
            <p:cNvPr id="8198" name="Picture 6">
              <a:extLst>
                <a:ext uri="{FF2B5EF4-FFF2-40B4-BE49-F238E27FC236}">
                  <a16:creationId xmlns:a16="http://schemas.microsoft.com/office/drawing/2014/main" id="{38836214-C09D-AA5A-24D2-0F1A08563B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906" y="1384915"/>
              <a:ext cx="2469005" cy="32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00" name="Picture 8" descr="Storytelling with Data: A Data Visualization Guide for Business  Professionals: Nussbaumer Knaflic, Cole: 9781119002253: Amazon.com: Books">
              <a:extLst>
                <a:ext uri="{FF2B5EF4-FFF2-40B4-BE49-F238E27FC236}">
                  <a16:creationId xmlns:a16="http://schemas.microsoft.com/office/drawing/2014/main" id="{8270AE47-7AA0-0283-99D9-EF66FD004C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9497" y="1384915"/>
              <a:ext cx="2601000" cy="32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02" name="Picture 10" descr="Amazon.com: Better Data Visualizations: A Guide for Scholars, Researchers,  and Wonks: 9780231193115: Schwabish, Jonathan: Books">
              <a:extLst>
                <a:ext uri="{FF2B5EF4-FFF2-40B4-BE49-F238E27FC236}">
                  <a16:creationId xmlns:a16="http://schemas.microsoft.com/office/drawing/2014/main" id="{5588CB7A-EE2F-F9F4-E6C5-AF50869CD1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42168" y="1384915"/>
              <a:ext cx="2520000" cy="32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04" name="Picture 12" descr="The Visual Display of Quantitative Information : Tufte, Edward R.:  Amazon.de: Books">
              <a:extLst>
                <a:ext uri="{FF2B5EF4-FFF2-40B4-BE49-F238E27FC236}">
                  <a16:creationId xmlns:a16="http://schemas.microsoft.com/office/drawing/2014/main" id="{8C2E8408-2FEF-770F-127A-7EDFD0BFEB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95083" y="1384915"/>
              <a:ext cx="2692498" cy="32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077506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02799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UIS_77_ANOS_FINAL.pptx" id="{6BC63415-353E-42CA-823A-8B640534EC3B}" vid="{BA5896C7-D3CF-42B6-8646-C93B8AF8544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PlantillaUIS_77_ANOS_FINAL</Template>
  <TotalTime>949</TotalTime>
  <Words>2048</Words>
  <Application>Microsoft Office PowerPoint</Application>
  <PresentationFormat>Panorámica</PresentationFormat>
  <Paragraphs>263</Paragraphs>
  <Slides>29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5" baseType="lpstr">
      <vt:lpstr>Aptos</vt:lpstr>
      <vt:lpstr>Arial</vt:lpstr>
      <vt:lpstr>HelveticaLTStd-Roman</vt:lpstr>
      <vt:lpstr>Myriad Pro Semibold</vt:lpstr>
      <vt:lpstr>Wingdings</vt:lpstr>
      <vt:lpstr>Tema de Office</vt:lpstr>
      <vt:lpstr>Fundamentals of Data Visualization and Storytelling</vt:lpstr>
      <vt:lpstr>Presentación de PowerPoint</vt:lpstr>
      <vt:lpstr>Presentación de PowerPoint</vt:lpstr>
      <vt:lpstr>What is Data Visualization? More than graphics: a way of thinking with images</vt:lpstr>
      <vt:lpstr>A visual history since the 19th century Before dashboards, there was storytelling</vt:lpstr>
      <vt:lpstr>Principles for effective visualisation Clarity, purpose and empathy with the reader</vt:lpstr>
      <vt:lpstr>How do we view graphs? Our brain does not read data, it interprets it visually</vt:lpstr>
      <vt:lpstr>What type of data are we viewing? Each piece of data has its ideal way of being displayed.</vt:lpstr>
      <vt:lpstr>What type plot to do? Select thinking what you need show</vt:lpstr>
      <vt:lpstr>Which mistakes we need to prevent? An attractive graphic is not correct ever</vt:lpstr>
      <vt:lpstr>Why we need to visualize? Same averages, very different stories</vt:lpstr>
      <vt:lpstr>Why do we need visualization tools? It is not enough to have the data; you have to make it speak.</vt:lpstr>
      <vt:lpstr>View without programming: accessible tools When speed and ease are key</vt:lpstr>
      <vt:lpstr>Visualization with code: total flexibility Complete control over your graphics and data</vt:lpstr>
      <vt:lpstr>Which tool should you use depending on the objective? It is not a question of better or worse, but rather of purpose.</vt:lpstr>
      <vt:lpstr>What makes a tool valuable? Three key principles for making informed decisions</vt:lpstr>
      <vt:lpstr>Choosing the right tool A decision that depends on you and your context</vt:lpstr>
      <vt:lpstr>Presentación de PowerPoint</vt:lpstr>
      <vt:lpstr>From fire to dashboard: a brief history of storytelling From telling oral stories to constructing visual narratives with data</vt:lpstr>
      <vt:lpstr>Telling stories with data is not the same as showing data Narrative as a bridge between numbers and meaning</vt:lpstr>
      <vt:lpstr>Every good story has structure Start, development, and conclusion to guide understanding of the data</vt:lpstr>
      <vt:lpstr>Designing is deciding what to see first Graphic principles for communicating clearly and stylishly</vt:lpstr>
      <vt:lpstr>Before closing What is essential in storytelling?</vt:lpstr>
      <vt:lpstr>Transforming data into visual stories Techniques for turning raw information into clear and memorable narratives</vt:lpstr>
      <vt:lpstr>Ver no es lo mismo que entender Cómo identificar insights y traducirlos en mensajes visuales claros</vt:lpstr>
      <vt:lpstr>Seeing is not the same as understanding How to identify insights and translate them into clear visual messages</vt:lpstr>
      <vt:lpstr>To close Connecting data, narrative and design: the challenge of visually communicating what matters</vt:lpstr>
      <vt:lpstr>Where can I learn more? Recommended resources for further exploration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ALFONSO MANTILLA DUARTE</dc:creator>
  <cp:lastModifiedBy>Carlos Mantilla</cp:lastModifiedBy>
  <cp:revision>16</cp:revision>
  <cp:lastPrinted>2025-02-12T20:47:51Z</cp:lastPrinted>
  <dcterms:created xsi:type="dcterms:W3CDTF">2025-03-10T10:56:57Z</dcterms:created>
  <dcterms:modified xsi:type="dcterms:W3CDTF">2025-10-02T21:29:46Z</dcterms:modified>
</cp:coreProperties>
</file>